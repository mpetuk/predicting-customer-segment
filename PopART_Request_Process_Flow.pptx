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PopART Adhoc Request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Streamlined workflows for data requests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Request Types: Quick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Request Type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Consideration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Additional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HEDIS measures, diagnosis prevalences, SDoH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"columns"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Different Segments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Alternative population splits/groupings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"rows"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Time Period Adjustments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months or &gt;12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Standard: 12 months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Multi-Population Analysis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Multiple populations analyzed together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Summary analysis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RFP (Prospect)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business - no member data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Census data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Member Lists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Lists with gaps in care/conditions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Requires permissions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 Appending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 PopART measures to existing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Often SDoH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Overall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1. Identify Request Type</a:t>
            </a:r>
          </a:p>
          <a:p>
            <a:pPr>
              <a:defRPr sz="1400" b="0"/>
            </a:pPr>
            <a:r>
              <a:t>2. Route to Appropriate Flow:</a:t>
            </a:r>
          </a:p>
          <a:p>
            <a:pPr lvl="1">
              <a:defRPr sz="1200" b="0"/>
            </a:pPr>
            <a:r>
              <a:t>Flow A: Existing Members (additional data)</a:t>
            </a:r>
          </a:p>
          <a:p>
            <a:pPr lvl="1">
              <a:defRPr sz="1200" b="0"/>
            </a:pPr>
            <a:r>
              <a:t>Flow B: RFP/Prospect Analysis</a:t>
            </a:r>
          </a:p>
          <a:p>
            <a:pPr lvl="1">
              <a:defRPr sz="1200" b="0"/>
            </a:pPr>
            <a:r>
              <a:t>Flow C: Member Lists</a:t>
            </a:r>
          </a:p>
          <a:p>
            <a:pPr lvl="1">
              <a:defRPr sz="1200" b="0"/>
            </a:pPr>
            <a:r>
              <a:t>Flow D: Data Appending</a:t>
            </a:r>
          </a:p>
          <a:p>
            <a:pPr lvl="1">
              <a:defRPr sz="1200" b="0"/>
            </a:pPr>
            <a:r>
              <a:t>Flow E: Multi-Population Analysis</a:t>
            </a:r>
          </a:p>
          <a:p>
            <a:pPr>
              <a:defRPr sz="1400" b="0"/>
            </a:pPr>
            <a:r>
              <a:t>3. Check Permissions (if member data involved)</a:t>
            </a:r>
          </a:p>
          <a:p>
            <a:pPr>
              <a:defRPr sz="1400" b="0"/>
            </a:pPr>
            <a:r>
              <a:t>4. Execute Request</a:t>
            </a:r>
          </a:p>
          <a:p>
            <a:pPr>
              <a:defRPr sz="1400" b="0"/>
            </a:pPr>
            <a:r>
              <a:t>5. Deliver &amp;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Flow A: Existing Members - Additional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1. Classify the Request</a:t>
            </a:r>
          </a:p>
          <a:p>
            <a:pPr lvl="1">
              <a:defRPr sz="1200" b="0"/>
            </a:pPr>
            <a:r>
              <a:t>New metric/segment/time period</a:t>
            </a:r>
          </a:p>
          <a:p>
            <a:pPr>
              <a:defRPr sz="1400" b="0"/>
            </a:pPr>
            <a:r>
              <a:t>2. Assess Feasibility</a:t>
            </a:r>
          </a:p>
          <a:p>
            <a:pPr lvl="1">
              <a:defRPr sz="1200" b="0"/>
            </a:pPr>
            <a:r>
              <a:t>Check data availability</a:t>
            </a:r>
          </a:p>
          <a:p>
            <a:pPr lvl="1">
              <a:defRPr sz="1200" b="0"/>
            </a:pPr>
            <a:r>
              <a:t>If &gt;12 months → offer 12-month option</a:t>
            </a:r>
          </a:p>
          <a:p>
            <a:pPr>
              <a:defRPr sz="1400" b="0"/>
            </a:pPr>
            <a:r>
              <a:t>3. Prepare Data</a:t>
            </a:r>
          </a:p>
          <a:p>
            <a:pPr lvl="1">
              <a:defRPr sz="1200" b="0"/>
            </a:pPr>
            <a:r>
              <a:t>Pull metrics &amp; apply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4. Delivery Prep</a:t>
            </a:r>
          </a:p>
          <a:p>
            <a:pPr lvl="1">
              <a:defRPr sz="1200" b="0"/>
            </a:pPr>
            <a:r>
              <a:t>Member data? → Protected location</a:t>
            </a:r>
          </a:p>
          <a:p>
            <a:pPr lvl="1">
              <a:defRPr sz="1200" b="0"/>
            </a:pPr>
            <a:r>
              <a:t>No member data? → Standard delivery</a:t>
            </a:r>
          </a:p>
          <a:p>
            <a:pPr>
              <a:defRPr sz="1400" b="0"/>
            </a:pPr>
            <a:r>
              <a:t>5. Deliver</a:t>
            </a:r>
          </a:p>
          <a:p>
            <a:pPr lvl="1">
              <a:defRPr sz="1200" b="0"/>
            </a:pPr>
            <a:r>
              <a:t>Usually Excel format</a:t>
            </a:r>
          </a:p>
          <a:p>
            <a:pPr>
              <a:defRPr sz="1400" b="0"/>
            </a:pPr>
            <a:r>
              <a:t>6. Document</a:t>
            </a:r>
          </a:p>
          <a:p>
            <a:pPr lvl="1">
              <a:defRPr sz="1200" b="0"/>
            </a:pPr>
            <a:r>
              <a:t>Log request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Flow B: RFP/Prospect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1. Receive Census Data</a:t>
            </a:r>
          </a:p>
          <a:p>
            <a:pPr lvl="1">
              <a:defRPr sz="1200" b="0"/>
            </a:pPr>
            <a:r>
              <a:t>ZIP, Age, Gender, Lat/Long</a:t>
            </a:r>
          </a:p>
          <a:p>
            <a:pPr>
              <a:defRPr sz="1400" b="0"/>
            </a:pPr>
            <a:r>
              <a:t>2. Map Employee Clusters</a:t>
            </a:r>
          </a:p>
          <a:p>
            <a:pPr lvl="1">
              <a:defRPr sz="1200" b="0"/>
            </a:pPr>
            <a:r>
              <a:t>Geocode &amp; identify clusters</a:t>
            </a:r>
          </a:p>
          <a:p>
            <a:pPr>
              <a:defRPr sz="1400" b="0"/>
            </a:pPr>
            <a:r>
              <a:t>3. Define Analysis Scope</a:t>
            </a:r>
          </a:p>
          <a:p>
            <a:pPr lvl="1">
              <a:defRPr sz="1200" b="0"/>
            </a:pPr>
            <a:r>
              <a:t>Employee clusters or client-specified</a:t>
            </a:r>
          </a:p>
          <a:p>
            <a:pPr>
              <a:defRPr sz="1400" b="0"/>
            </a:pPr>
            <a:r>
              <a:t>4. Pull Aggregated Data</a:t>
            </a:r>
          </a:p>
          <a:p>
            <a:pPr lvl="1">
              <a:defRPr sz="1200" b="0"/>
            </a:pPr>
            <a:r>
              <a:t>Subset by plan &amp; MSA</a:t>
            </a:r>
          </a:p>
          <a:p>
            <a:pPr lvl="1">
              <a:defRPr sz="1200" b="0"/>
            </a:pPr>
            <a:r>
              <a:t>Pull measures for geographies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5. Data Volume Check</a:t>
            </a:r>
          </a:p>
          <a:p>
            <a:pPr lvl="1">
              <a:defRPr sz="1200" b="0"/>
            </a:pPr>
            <a:r>
              <a:t>OK: &lt;250,000 data points</a:t>
            </a:r>
          </a:p>
          <a:p>
            <a:pPr lvl="1">
              <a:defRPr sz="1200" b="0"/>
            </a:pPr>
            <a:r>
              <a:t>Too high: subset or summarize</a:t>
            </a:r>
          </a:p>
          <a:p>
            <a:pPr>
              <a:defRPr sz="1400" b="0"/>
            </a:pPr>
            <a:r>
              <a:t>6. Deliver Analysis</a:t>
            </a:r>
          </a:p>
          <a:p>
            <a:pPr lvl="1">
              <a:defRPr sz="1200" b="0"/>
            </a:pPr>
            <a:r>
              <a:t>Geographic risk assessment</a:t>
            </a:r>
          </a:p>
          <a:p>
            <a:pPr>
              <a:defRPr sz="1400" b="0"/>
            </a:pPr>
            <a:r>
              <a:t>7. Document Request</a:t>
            </a:r>
          </a:p>
          <a:p>
            <a:pPr lvl="1">
              <a:defRPr sz="1200" b="0"/>
            </a:pPr>
            <a:r>
              <a:t>Log prospect &amp; measures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Flow C: Member Lists with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1. Clarify Requirements</a:t>
            </a:r>
          </a:p>
          <a:p>
            <a:pPr lvl="1">
              <a:defRPr sz="1200" b="0"/>
            </a:pPr>
            <a:r>
              <a:t>Conditions/gaps in care</a:t>
            </a:r>
          </a:p>
          <a:p>
            <a:pPr lvl="1">
              <a:defRPr sz="1200" b="0"/>
            </a:pPr>
            <a:r>
              <a:t>Geographies &amp; plans</a:t>
            </a:r>
          </a:p>
          <a:p>
            <a:pPr>
              <a:defRPr sz="1400" b="0"/>
            </a:pPr>
            <a:r>
              <a:t>2. ⚠️ Check Permissions (CRITICAL)</a:t>
            </a:r>
          </a:p>
          <a:p>
            <a:pPr lvl="1">
              <a:defRPr sz="1200" b="0"/>
            </a:pPr>
            <a:r>
              <a:t>Employer permission to contact?</a:t>
            </a:r>
          </a:p>
          <a:p>
            <a:pPr lvl="1">
              <a:defRPr sz="1200" b="0"/>
            </a:pPr>
            <a:r>
              <a:t>NO → Cannot proceed</a:t>
            </a:r>
          </a:p>
          <a:p>
            <a:pPr lvl="1">
              <a:defRPr sz="1200" b="0"/>
            </a:pPr>
            <a:r>
              <a:t>YES →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3. Generate Member List</a:t>
            </a:r>
          </a:p>
          <a:p>
            <a:pPr lvl="1">
              <a:defRPr sz="1200" b="0"/>
            </a:pPr>
            <a:r>
              <a:t>Apply all filters</a:t>
            </a:r>
          </a:p>
          <a:p>
            <a:pPr>
              <a:defRPr sz="1400" b="0"/>
            </a:pPr>
            <a:r>
              <a:t>4. ⚠️ Protected Delivery (REQUIRED)</a:t>
            </a:r>
          </a:p>
          <a:p>
            <a:pPr lvl="1">
              <a:defRPr sz="1200" b="0"/>
            </a:pPr>
            <a:r>
              <a:t>Member data → protected location</a:t>
            </a:r>
          </a:p>
          <a:p>
            <a:pPr>
              <a:defRPr sz="1400" b="0"/>
            </a:pPr>
            <a:r>
              <a:t>5. Deliver List</a:t>
            </a:r>
          </a:p>
          <a:p>
            <a:pPr>
              <a:defRPr sz="1400" b="0"/>
            </a:pPr>
            <a:r>
              <a:t>6. Document Request</a:t>
            </a:r>
          </a:p>
          <a:p>
            <a:pPr lvl="1">
              <a:defRPr sz="1200" b="0"/>
            </a:pPr>
            <a:r>
              <a:t>Log criteria &amp; permissions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Flow D: Data Appending to Existing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1. Receive Client List</a:t>
            </a:r>
          </a:p>
          <a:p>
            <a:pPr>
              <a:defRPr sz="1400" b="0"/>
            </a:pPr>
            <a:r>
              <a:t>2. Identify Measures to Append (usually SDoH)</a:t>
            </a:r>
          </a:p>
          <a:p>
            <a:pPr>
              <a:defRPr sz="1400" b="0"/>
            </a:pPr>
            <a:r>
              <a:t>3. Check Permissions if Member Data</a:t>
            </a:r>
          </a:p>
          <a:p>
            <a:pPr lvl="1">
              <a:defRPr sz="1200" b="0"/>
            </a:pPr>
            <a:r>
              <a:t>Member identifiers present? → Verify permission</a:t>
            </a:r>
          </a:p>
          <a:p>
            <a:pPr>
              <a:defRPr sz="1400" b="0"/>
            </a:pPr>
            <a:r>
              <a:t>4. Append Requested Measures</a:t>
            </a:r>
          </a:p>
          <a:p>
            <a:pPr lvl="1">
              <a:defRPr sz="1200" b="0"/>
            </a:pPr>
            <a:r>
              <a:t>Match records &amp; add columns</a:t>
            </a:r>
          </a:p>
          <a:p>
            <a:pPr>
              <a:defRPr sz="1400" b="0"/>
            </a:pPr>
            <a:r>
              <a:t>5. Delivery Preparation</a:t>
            </a:r>
          </a:p>
          <a:p>
            <a:pPr lvl="1">
              <a:defRPr sz="1200" b="0"/>
            </a:pPr>
            <a:r>
              <a:t>Member data? → Protected location</a:t>
            </a:r>
          </a:p>
          <a:p>
            <a:pPr>
              <a:defRPr sz="1400" b="0"/>
            </a:pPr>
            <a:r>
              <a:t>6. Deliver Enhanced List</a:t>
            </a:r>
          </a:p>
          <a:p>
            <a:pPr>
              <a:defRPr sz="1400" b="0"/>
            </a:pPr>
            <a:r>
              <a:t>7. Document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Flow E: Multi-Population Summary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1. Identify All Populations</a:t>
            </a:r>
          </a:p>
          <a:p>
            <a:pPr>
              <a:defRPr sz="1400" b="0"/>
            </a:pPr>
            <a:r>
              <a:t>2. Assess Data Volume</a:t>
            </a:r>
          </a:p>
          <a:p>
            <a:pPr lvl="1">
              <a:defRPr sz="1200" b="0"/>
            </a:pPr>
            <a:r>
              <a:t>Can fit in single Excel? → Detailed data</a:t>
            </a:r>
          </a:p>
          <a:p>
            <a:pPr lvl="1">
              <a:defRPr sz="1200" b="0"/>
            </a:pPr>
            <a:r>
              <a:t>Too large? → Summary analysis</a:t>
            </a:r>
          </a:p>
          <a:p>
            <a:pPr>
              <a:defRPr sz="1400" b="0"/>
            </a:pPr>
            <a:r>
              <a:t>3. Determine Output Format</a:t>
            </a:r>
          </a:p>
          <a:p>
            <a:pPr lvl="1">
              <a:defRPr sz="1200" b="0"/>
            </a:pPr>
            <a:r>
              <a:t>Summary tables with key metrics side-by-side</a:t>
            </a:r>
          </a:p>
          <a:p>
            <a:pPr>
              <a:defRPr sz="1400" b="0"/>
            </a:pPr>
            <a:r>
              <a:t>4. Generate Comparative Analysis</a:t>
            </a:r>
          </a:p>
          <a:p>
            <a:pPr>
              <a:defRPr sz="1400" b="0"/>
            </a:pPr>
            <a:r>
              <a:t>5. Delivery Preparation (check for member data)</a:t>
            </a:r>
          </a:p>
          <a:p>
            <a:pPr>
              <a:defRPr sz="1400" b="0"/>
            </a:pPr>
            <a:r>
              <a:t>6. Deliver Summary Analysis</a:t>
            </a:r>
          </a:p>
          <a:p>
            <a:pPr>
              <a:defRPr sz="1400" b="0"/>
            </a:pPr>
            <a:r>
              <a:t>7. Document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Member Data Permissions &amp;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Does request involve member-level data?</a:t>
            </a:r>
          </a:p>
          <a:p>
            <a:pPr lvl="1">
              <a:defRPr sz="1200" b="0"/>
            </a:pPr>
            <a:r>
              <a:t>NO → Standard delivery process</a:t>
            </a:r>
          </a:p>
          <a:p>
            <a:pPr lvl="1">
              <a:defRPr sz="1200" b="0"/>
            </a:pPr>
            <a:r>
              <a:t>YES → Check permissions ↓</a:t>
            </a:r>
          </a:p>
          <a:p>
            <a:pPr>
              <a:defRPr sz="1400" b="0"/>
            </a:pPr>
          </a:p>
          <a:p>
            <a:pPr>
              <a:defRPr sz="1400" b="0"/>
            </a:pPr>
            <a:r>
              <a:t>Do we have employer permission to contact members?</a:t>
            </a:r>
          </a:p>
          <a:p>
            <a:pPr lvl="1">
              <a:defRPr sz="1200" b="0"/>
            </a:pPr>
            <a:r>
              <a:t>NO → CANNOT PROCEED</a:t>
            </a:r>
          </a:p>
          <a:p>
            <a:pPr lvl="2">
              <a:defRPr sz="1200" b="0"/>
            </a:pPr>
            <a:r>
              <a:t>     → Inform client, request permission</a:t>
            </a:r>
          </a:p>
          <a:p>
            <a:pPr lvl="1">
              <a:defRPr sz="1200" b="0"/>
            </a:pPr>
            <a:r>
              <a:t>YES → Proceed with protected delivery</a:t>
            </a:r>
          </a:p>
          <a:p>
            <a:pPr lvl="2">
              <a:defRPr sz="1200" b="0"/>
            </a:pPr>
            <a:r>
              <a:t>     → Set up protected location</a:t>
            </a:r>
          </a:p>
          <a:p>
            <a:pPr lvl="2">
              <a:defRPr sz="1200" b="0"/>
            </a:pPr>
            <a:r>
              <a:t>     → Deliver to protected location ONLY</a:t>
            </a:r>
          </a:p>
          <a:p>
            <a:pPr lvl="2">
              <a:defRPr sz="1200" b="0"/>
            </a:pPr>
            <a:r>
              <a:t>     → Document permission &amp;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Critical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7863840" cy="1097280"/>
          </a:xfrm>
          <a:prstGeom prst="roundRect">
            <a:avLst/>
          </a:prstGeom>
          <a:solidFill>
            <a:srgbClr val="F96167"/>
          </a:solidFill>
          <a:ln>
            <a:solidFill>
              <a:srgbClr val="B9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 Data Volume Threshold: 250,000 data points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Maps break above this limit → Use summary tables or further subset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Time Periods:</a:t>
            </a:r>
          </a:p>
          <a:p>
            <a:pPr lvl="1">
              <a:defRPr sz="1200" b="0"/>
            </a:pPr>
            <a:r>
              <a:t>6 months: Easy | 12 months: Standard | &gt;12 months: Complex</a:t>
            </a:r>
          </a:p>
          <a:p>
            <a:pPr>
              <a:defRPr sz="1400" b="0"/>
            </a:pPr>
            <a:r>
              <a:t>Protected Delivery REQUIRED for all member-level data</a:t>
            </a:r>
          </a:p>
          <a:p>
            <a:pPr>
              <a:defRPr sz="1400" b="0"/>
            </a:pPr>
            <a:r>
              <a:t>SDoH metrics are external data (more complex to add)</a:t>
            </a:r>
          </a:p>
          <a:p>
            <a:pPr>
              <a:defRPr sz="1400" b="0"/>
            </a:pPr>
            <a:r>
              <a:t>Large Excel files are cumbersome → recommend summaries</a:t>
            </a:r>
          </a:p>
          <a:p>
            <a:pPr>
              <a:defRPr sz="1400" b="0"/>
            </a:pPr>
            <a:r>
              <a:t>Always document: request type, permissions, delivery 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Pre-Delivery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☐ Request type identified and documented</a:t>
            </a:r>
          </a:p>
          <a:p>
            <a:pPr>
              <a:defRPr sz="1400" b="0"/>
            </a:pPr>
            <a:r>
              <a:t>☐ Feasibility confirmed</a:t>
            </a:r>
          </a:p>
          <a:p>
            <a:pPr>
              <a:defRPr sz="1400" b="0"/>
            </a:pPr>
            <a:r>
              <a:t>☐ If member data: Permissions verified</a:t>
            </a:r>
          </a:p>
          <a:p>
            <a:pPr>
              <a:defRPr sz="1400" b="0"/>
            </a:pPr>
            <a:r>
              <a:t>☐ If member data: Protected location set up</a:t>
            </a:r>
          </a:p>
          <a:p>
            <a:pPr>
              <a:defRPr sz="1400" b="0"/>
            </a:pPr>
            <a:r>
              <a:t>☐ Data pulled and formatted</a:t>
            </a:r>
          </a:p>
          <a:p>
            <a:pPr>
              <a:defRPr sz="1400" b="0"/>
            </a:pPr>
            <a:r>
              <a:t>☐ Quality check completed</a:t>
            </a:r>
          </a:p>
          <a:p>
            <a:pPr>
              <a:defRPr sz="1400" b="0"/>
            </a:pPr>
            <a:r>
              <a:t>☐ Delivered to appropriate location</a:t>
            </a:r>
          </a:p>
          <a:p>
            <a:pPr>
              <a:defRPr sz="1400" b="0"/>
            </a:pPr>
            <a:r>
              <a:t>☐ Request logged with key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/>
            </a:pPr>
            <a:r>
              <a:t>HEDIS: Healthcare Effectiveness Data and Information Set</a:t>
            </a:r>
          </a:p>
          <a:p>
            <a:pPr>
              <a:defRPr sz="1400" b="0"/>
            </a:pPr>
            <a:r>
              <a:t>SDoH: Social Determinants of Health</a:t>
            </a:r>
          </a:p>
          <a:p>
            <a:pPr>
              <a:defRPr sz="1400" b="0"/>
            </a:pPr>
            <a:r>
              <a:t>RFP: Request for Proposal (new business opportunity)</a:t>
            </a:r>
          </a:p>
          <a:p>
            <a:pPr>
              <a:defRPr sz="1400" b="0"/>
            </a:pPr>
            <a:r>
              <a:t>MSA: Metropolitan Statistical Area</a:t>
            </a:r>
          </a:p>
          <a:p>
            <a:pPr>
              <a:defRPr sz="1400" b="0"/>
            </a:pPr>
            <a:r>
              <a:t>PopART: Your population health tool</a:t>
            </a:r>
          </a:p>
          <a:p>
            <a:pPr>
              <a:defRPr sz="1400" b="0"/>
            </a:pPr>
            <a:r>
              <a:t>Census Data: Demographics without member IDs</a:t>
            </a:r>
          </a:p>
          <a:p>
            <a:pPr>
              <a:defRPr sz="1400" b="0"/>
            </a:pPr>
            <a:r>
              <a:t>Protected Location: Secure delivery for member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