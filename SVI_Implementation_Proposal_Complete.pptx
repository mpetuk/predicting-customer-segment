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59"/>
        </a:solidFill>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4800" b="1" dirty="0">
                <a:solidFill>
                  <a:srgbClr val="FFFFFF"/>
                </a:solidFill>
              </a:rPr>
              <a:t>Social Vulnerability Index</a:t>
            </a:r>
            <a:endParaRPr lang="en-US" sz="4800" dirty="0"/>
          </a:p>
        </p:txBody>
      </p:sp>
      <p:sp>
        <p:nvSpPr>
          <p:cNvPr id="3" name="Text 1"/>
          <p:cNvSpPr/>
          <p:nvPr/>
        </p:nvSpPr>
        <p:spPr>
          <a:xfrm>
            <a:off x="457200" y="2560320"/>
            <a:ext cx="8229600" cy="457200"/>
          </a:xfrm>
          <a:prstGeom prst="rect">
            <a:avLst/>
          </a:prstGeom>
          <a:noFill/>
          <a:ln/>
        </p:spPr>
        <p:txBody>
          <a:bodyPr wrap="square" rtlCol="0" anchor="ctr"/>
          <a:lstStyle/>
          <a:p>
            <a:pPr algn="ctr" indent="0" marL="0">
              <a:buNone/>
            </a:pPr>
            <a:r>
              <a:rPr lang="en-US" sz="2000" i="1" dirty="0">
                <a:solidFill>
                  <a:srgbClr val="8FCAE7"/>
                </a:solidFill>
              </a:rPr>
              <a:t>Enhancing Population Health Analytics Through CDC's Validated Framework</a:t>
            </a:r>
            <a:endParaRPr lang="en-US" sz="2000" dirty="0"/>
          </a:p>
        </p:txBody>
      </p:sp>
      <p:sp>
        <p:nvSpPr>
          <p:cNvPr id="4" name="Text 2"/>
          <p:cNvSpPr/>
          <p:nvPr/>
        </p:nvSpPr>
        <p:spPr>
          <a:xfrm>
            <a:off x="457200" y="3931920"/>
            <a:ext cx="8229600" cy="548640"/>
          </a:xfrm>
          <a:prstGeom prst="rect">
            <a:avLst/>
          </a:prstGeom>
          <a:noFill/>
          <a:ln/>
        </p:spPr>
        <p:txBody>
          <a:bodyPr wrap="square" rtlCol="0" anchor="ctr"/>
          <a:lstStyle/>
          <a:p>
            <a:pPr algn="ctr" indent="0" marL="0">
              <a:buNone/>
            </a:pPr>
            <a:r>
              <a:rPr lang="en-US" sz="1400" dirty="0">
                <a:solidFill>
                  <a:srgbClr val="FFFFFF"/>
                </a:solidFill>
              </a:rPr>
              <a:t>Implementation Proposal for Internal Analytics Tool</a:t>
            </a:r>
            <a:endParaRPr lang="en-US" sz="1400" dirty="0"/>
          </a:p>
          <a:p>
            <a:pPr algn="ctr" indent="0" marL="0">
              <a:buNone/>
            </a:pPr>
            <a:r>
              <a:rPr lang="en-US" sz="1400" dirty="0">
                <a:solidFill>
                  <a:srgbClr val="FFFFFF"/>
                </a:solidFill>
              </a:rPr>
              <a:t>January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ED6D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4000" b="1" dirty="0">
                <a:solidFill>
                  <a:srgbClr val="003359"/>
                </a:solidFill>
              </a:rPr>
              <a:t>What is the Social Vulnerability Index?</a:t>
            </a:r>
            <a:endParaRPr lang="en-US" sz="4000" dirty="0"/>
          </a:p>
        </p:txBody>
      </p:sp>
      <p:sp>
        <p:nvSpPr>
          <p:cNvPr id="3" name="Shape 1"/>
          <p:cNvSpPr/>
          <p:nvPr/>
        </p:nvSpPr>
        <p:spPr>
          <a:xfrm>
            <a:off x="457200" y="1097280"/>
            <a:ext cx="4114800" cy="3657600"/>
          </a:xfrm>
          <a:prstGeom prst="rect">
            <a:avLst/>
          </a:prstGeom>
          <a:solidFill>
            <a:srgbClr val="FFFFFF"/>
          </a:solidFill>
          <a:ln/>
        </p:spPr>
      </p:sp>
      <p:sp>
        <p:nvSpPr>
          <p:cNvPr id="4" name="Shape 2"/>
          <p:cNvSpPr/>
          <p:nvPr/>
        </p:nvSpPr>
        <p:spPr>
          <a:xfrm>
            <a:off x="457200" y="1097280"/>
            <a:ext cx="73152" cy="3657600"/>
          </a:xfrm>
          <a:prstGeom prst="rect">
            <a:avLst/>
          </a:prstGeom>
          <a:solidFill>
            <a:srgbClr val="0094D7"/>
          </a:solidFill>
          <a:ln/>
        </p:spPr>
      </p:sp>
      <p:sp>
        <p:nvSpPr>
          <p:cNvPr id="5" name="Text 3"/>
          <p:cNvSpPr/>
          <p:nvPr/>
        </p:nvSpPr>
        <p:spPr>
          <a:xfrm>
            <a:off x="731520" y="1280160"/>
            <a:ext cx="3657600" cy="365760"/>
          </a:xfrm>
          <a:prstGeom prst="rect">
            <a:avLst/>
          </a:prstGeom>
          <a:noFill/>
          <a:ln/>
        </p:spPr>
        <p:txBody>
          <a:bodyPr wrap="square" rtlCol="0" anchor="ctr"/>
          <a:lstStyle/>
          <a:p>
            <a:pPr indent="0" marL="0">
              <a:buNone/>
            </a:pPr>
            <a:r>
              <a:rPr lang="en-US" sz="2000" b="1" dirty="0">
                <a:solidFill>
                  <a:srgbClr val="0094D7"/>
                </a:solidFill>
              </a:rPr>
              <a:t>Definition</a:t>
            </a:r>
            <a:endParaRPr lang="en-US" sz="2000" dirty="0"/>
          </a:p>
        </p:txBody>
      </p:sp>
      <p:sp>
        <p:nvSpPr>
          <p:cNvPr id="6" name="Text 4"/>
          <p:cNvSpPr/>
          <p:nvPr/>
        </p:nvSpPr>
        <p:spPr>
          <a:xfrm>
            <a:off x="731520" y="1828800"/>
            <a:ext cx="3657600" cy="1097280"/>
          </a:xfrm>
          <a:prstGeom prst="rect">
            <a:avLst/>
          </a:prstGeom>
          <a:noFill/>
          <a:ln/>
        </p:spPr>
        <p:txBody>
          <a:bodyPr wrap="square" rtlCol="0" anchor="ctr"/>
          <a:lstStyle/>
          <a:p>
            <a:pPr indent="0" marL="0">
              <a:buNone/>
            </a:pPr>
            <a:r>
              <a:rPr lang="en-US" sz="1400" dirty="0">
                <a:solidFill>
                  <a:srgbClr val="1E1E1E"/>
                </a:solidFill>
              </a:rPr>
              <a:t>The CDC/ATSDR Social Vulnerability Index (SVI) is a </a:t>
            </a:r>
            <a:pPr indent="0" marL="0">
              <a:buNone/>
            </a:pPr>
            <a:r>
              <a:rPr lang="en-US" sz="1400" b="1" dirty="0">
                <a:solidFill>
                  <a:srgbClr val="1E1E1E"/>
                </a:solidFill>
              </a:rPr>
              <a:t>science-based framework</a:t>
            </a:r>
            <a:pPr indent="0" marL="0">
              <a:buNone/>
            </a:pPr>
            <a:r>
              <a:rPr lang="en-US" sz="1400" dirty="0">
                <a:solidFill>
                  <a:srgbClr val="1E1E1E"/>
                </a:solidFill>
              </a:rPr>
              <a:t> that identifies communities most at risk during public health emergencies and those facing the greatest barriers to healthcare access.</a:t>
            </a:r>
            <a:endParaRPr lang="en-US" sz="1400" dirty="0"/>
          </a:p>
        </p:txBody>
      </p:sp>
      <p:sp>
        <p:nvSpPr>
          <p:cNvPr id="7" name="Text 5"/>
          <p:cNvSpPr/>
          <p:nvPr/>
        </p:nvSpPr>
        <p:spPr>
          <a:xfrm>
            <a:off x="731520" y="3108960"/>
            <a:ext cx="3657600" cy="274320"/>
          </a:xfrm>
          <a:prstGeom prst="rect">
            <a:avLst/>
          </a:prstGeom>
          <a:noFill/>
          <a:ln/>
        </p:spPr>
        <p:txBody>
          <a:bodyPr wrap="square" rtlCol="0" anchor="ctr"/>
          <a:lstStyle/>
          <a:p>
            <a:pPr indent="0" marL="0">
              <a:buNone/>
            </a:pPr>
            <a:r>
              <a:rPr lang="en-US" sz="1400" b="1" dirty="0">
                <a:solidFill>
                  <a:srgbClr val="1E1E1E"/>
                </a:solidFill>
              </a:rPr>
              <a:t>Key Features:</a:t>
            </a:r>
            <a:endParaRPr lang="en-US" sz="1400" dirty="0"/>
          </a:p>
        </p:txBody>
      </p:sp>
      <p:sp>
        <p:nvSpPr>
          <p:cNvPr id="8" name="Text 6"/>
          <p:cNvSpPr/>
          <p:nvPr/>
        </p:nvSpPr>
        <p:spPr>
          <a:xfrm>
            <a:off x="731520" y="3383280"/>
            <a:ext cx="3657600" cy="1188720"/>
          </a:xfrm>
          <a:prstGeom prst="rect">
            <a:avLst/>
          </a:prstGeom>
          <a:noFill/>
          <a:ln/>
        </p:spPr>
        <p:txBody>
          <a:bodyPr wrap="square" rtlCol="0" anchor="ctr"/>
          <a:lstStyle/>
          <a:p>
            <a:pPr marL="342900" indent="-342900">
              <a:buSzPct val="100000"/>
              <a:buChar char="•"/>
            </a:pPr>
            <a:r>
              <a:rPr lang="en-US" sz="1300" dirty="0">
                <a:solidFill>
                  <a:srgbClr val="1E1E1E"/>
                </a:solidFill>
              </a:rPr>
              <a:t>CDC-validated methodology</a:t>
            </a:r>
            <a:endParaRPr lang="en-US" sz="1300" dirty="0"/>
          </a:p>
          <a:p>
            <a:pPr marL="342900" indent="-342900">
              <a:buSzPct val="100000"/>
              <a:buChar char="•"/>
            </a:pPr>
            <a:r>
              <a:rPr lang="en-US" sz="1300" dirty="0">
                <a:solidFill>
                  <a:srgbClr val="1E1E1E"/>
                </a:solidFill>
              </a:rPr>
              <a:t>16 variables across 4 themes</a:t>
            </a:r>
            <a:endParaRPr lang="en-US" sz="1300" dirty="0"/>
          </a:p>
          <a:p>
            <a:pPr marL="342900" indent="-342900">
              <a:buSzPct val="100000"/>
              <a:buChar char="•"/>
            </a:pPr>
            <a:r>
              <a:rPr lang="en-US" sz="1300" dirty="0">
                <a:solidFill>
                  <a:srgbClr val="1E1E1E"/>
                </a:solidFill>
              </a:rPr>
              <a:t>Updated annually with ACS data</a:t>
            </a:r>
            <a:endParaRPr lang="en-US" sz="1300" dirty="0"/>
          </a:p>
          <a:p>
            <a:pPr marL="342900" indent="-342900">
              <a:buSzPct val="100000"/>
              <a:buChar char="•"/>
            </a:pPr>
            <a:r>
              <a:rPr lang="en-US" sz="1300" dirty="0">
                <a:solidFill>
                  <a:srgbClr val="1E1E1E"/>
                </a:solidFill>
              </a:rPr>
              <a:t>33,642 ZIP codes nationwide</a:t>
            </a:r>
            <a:endParaRPr lang="en-US" sz="1300" dirty="0"/>
          </a:p>
        </p:txBody>
      </p:sp>
      <p:sp>
        <p:nvSpPr>
          <p:cNvPr id="9" name="Shape 7"/>
          <p:cNvSpPr/>
          <p:nvPr/>
        </p:nvSpPr>
        <p:spPr>
          <a:xfrm>
            <a:off x="4846320" y="1097280"/>
            <a:ext cx="3840480" cy="3657600"/>
          </a:xfrm>
          <a:prstGeom prst="rect">
            <a:avLst/>
          </a:prstGeom>
          <a:solidFill>
            <a:srgbClr val="FFFFFF"/>
          </a:solidFill>
          <a:ln/>
        </p:spPr>
      </p:sp>
      <p:sp>
        <p:nvSpPr>
          <p:cNvPr id="10" name="Text 8"/>
          <p:cNvSpPr/>
          <p:nvPr/>
        </p:nvSpPr>
        <p:spPr>
          <a:xfrm>
            <a:off x="5029200" y="1280160"/>
            <a:ext cx="3474720" cy="365760"/>
          </a:xfrm>
          <a:prstGeom prst="rect">
            <a:avLst/>
          </a:prstGeom>
          <a:noFill/>
          <a:ln/>
        </p:spPr>
        <p:txBody>
          <a:bodyPr wrap="square" rtlCol="0" anchor="ctr"/>
          <a:lstStyle/>
          <a:p>
            <a:pPr indent="0" marL="0">
              <a:buNone/>
            </a:pPr>
            <a:r>
              <a:rPr lang="en-US" sz="1800" b="1" dirty="0">
                <a:solidFill>
                  <a:srgbClr val="003359"/>
                </a:solidFill>
              </a:rPr>
              <a:t>Four Vulnerability Themes</a:t>
            </a:r>
            <a:endParaRPr lang="en-US" sz="1800" dirty="0"/>
          </a:p>
        </p:txBody>
      </p:sp>
      <p:sp>
        <p:nvSpPr>
          <p:cNvPr id="11" name="Shape 9"/>
          <p:cNvSpPr/>
          <p:nvPr/>
        </p:nvSpPr>
        <p:spPr>
          <a:xfrm>
            <a:off x="5029200" y="1828800"/>
            <a:ext cx="320040" cy="320040"/>
          </a:xfrm>
          <a:prstGeom prst="ellipse">
            <a:avLst/>
          </a:prstGeom>
          <a:solidFill>
            <a:srgbClr val="0094D7"/>
          </a:solidFill>
          <a:ln/>
        </p:spPr>
      </p:sp>
      <p:sp>
        <p:nvSpPr>
          <p:cNvPr id="12" name="Text 10"/>
          <p:cNvSpPr/>
          <p:nvPr/>
        </p:nvSpPr>
        <p:spPr>
          <a:xfrm>
            <a:off x="5029200" y="1828800"/>
            <a:ext cx="320040" cy="32004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13" name="Text 11"/>
          <p:cNvSpPr/>
          <p:nvPr/>
        </p:nvSpPr>
        <p:spPr>
          <a:xfrm>
            <a:off x="5440680" y="1783080"/>
            <a:ext cx="3108960" cy="228600"/>
          </a:xfrm>
          <a:prstGeom prst="rect">
            <a:avLst/>
          </a:prstGeom>
          <a:noFill/>
          <a:ln/>
        </p:spPr>
        <p:txBody>
          <a:bodyPr wrap="square" rtlCol="0" anchor="ctr"/>
          <a:lstStyle/>
          <a:p>
            <a:pPr indent="0" marL="0">
              <a:buNone/>
            </a:pPr>
            <a:r>
              <a:rPr lang="en-US" sz="1300" b="1" dirty="0">
                <a:solidFill>
                  <a:srgbClr val="1E1E1E"/>
                </a:solidFill>
              </a:rPr>
              <a:t>Socioeconomic Status</a:t>
            </a:r>
            <a:endParaRPr lang="en-US" sz="1300" dirty="0"/>
          </a:p>
        </p:txBody>
      </p:sp>
      <p:sp>
        <p:nvSpPr>
          <p:cNvPr id="14" name="Text 12"/>
          <p:cNvSpPr/>
          <p:nvPr/>
        </p:nvSpPr>
        <p:spPr>
          <a:xfrm>
            <a:off x="5440680" y="2029968"/>
            <a:ext cx="3108960" cy="182880"/>
          </a:xfrm>
          <a:prstGeom prst="rect">
            <a:avLst/>
          </a:prstGeom>
          <a:noFill/>
          <a:ln/>
        </p:spPr>
        <p:txBody>
          <a:bodyPr wrap="square" rtlCol="0" anchor="ctr"/>
          <a:lstStyle/>
          <a:p>
            <a:pPr indent="0" marL="0">
              <a:buNone/>
            </a:pPr>
            <a:r>
              <a:rPr lang="en-US" sz="1100" dirty="0">
                <a:solidFill>
                  <a:srgbClr val="64748B"/>
                </a:solidFill>
              </a:rPr>
              <a:t>Poverty, unemployment, education</a:t>
            </a:r>
            <a:endParaRPr lang="en-US" sz="1100" dirty="0"/>
          </a:p>
        </p:txBody>
      </p:sp>
      <p:sp>
        <p:nvSpPr>
          <p:cNvPr id="15" name="Shape 13"/>
          <p:cNvSpPr/>
          <p:nvPr/>
        </p:nvSpPr>
        <p:spPr>
          <a:xfrm>
            <a:off x="5029200" y="2606040"/>
            <a:ext cx="320040" cy="320040"/>
          </a:xfrm>
          <a:prstGeom prst="ellipse">
            <a:avLst/>
          </a:prstGeom>
          <a:solidFill>
            <a:srgbClr val="0094D7"/>
          </a:solidFill>
          <a:ln/>
        </p:spPr>
      </p:sp>
      <p:sp>
        <p:nvSpPr>
          <p:cNvPr id="16" name="Text 14"/>
          <p:cNvSpPr/>
          <p:nvPr/>
        </p:nvSpPr>
        <p:spPr>
          <a:xfrm>
            <a:off x="5029200" y="2606040"/>
            <a:ext cx="320040" cy="32004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7" name="Text 15"/>
          <p:cNvSpPr/>
          <p:nvPr/>
        </p:nvSpPr>
        <p:spPr>
          <a:xfrm>
            <a:off x="5440680" y="2560320"/>
            <a:ext cx="3108960" cy="228600"/>
          </a:xfrm>
          <a:prstGeom prst="rect">
            <a:avLst/>
          </a:prstGeom>
          <a:noFill/>
          <a:ln/>
        </p:spPr>
        <p:txBody>
          <a:bodyPr wrap="square" rtlCol="0" anchor="ctr"/>
          <a:lstStyle/>
          <a:p>
            <a:pPr indent="0" marL="0">
              <a:buNone/>
            </a:pPr>
            <a:r>
              <a:rPr lang="en-US" sz="1300" b="1" dirty="0">
                <a:solidFill>
                  <a:srgbClr val="1E1E1E"/>
                </a:solidFill>
              </a:rPr>
              <a:t>Household Characteristics</a:t>
            </a:r>
            <a:endParaRPr lang="en-US" sz="1300" dirty="0"/>
          </a:p>
        </p:txBody>
      </p:sp>
      <p:sp>
        <p:nvSpPr>
          <p:cNvPr id="18" name="Text 16"/>
          <p:cNvSpPr/>
          <p:nvPr/>
        </p:nvSpPr>
        <p:spPr>
          <a:xfrm>
            <a:off x="5440680" y="2807208"/>
            <a:ext cx="3108960" cy="182880"/>
          </a:xfrm>
          <a:prstGeom prst="rect">
            <a:avLst/>
          </a:prstGeom>
          <a:noFill/>
          <a:ln/>
        </p:spPr>
        <p:txBody>
          <a:bodyPr wrap="square" rtlCol="0" anchor="ctr"/>
          <a:lstStyle/>
          <a:p>
            <a:pPr indent="0" marL="0">
              <a:buNone/>
            </a:pPr>
            <a:r>
              <a:rPr lang="en-US" sz="1100" dirty="0">
                <a:solidFill>
                  <a:srgbClr val="64748B"/>
                </a:solidFill>
              </a:rPr>
              <a:t>Age, disability, language</a:t>
            </a:r>
            <a:endParaRPr lang="en-US" sz="1100" dirty="0"/>
          </a:p>
        </p:txBody>
      </p:sp>
      <p:sp>
        <p:nvSpPr>
          <p:cNvPr id="19" name="Shape 17"/>
          <p:cNvSpPr/>
          <p:nvPr/>
        </p:nvSpPr>
        <p:spPr>
          <a:xfrm>
            <a:off x="5029200" y="3383280"/>
            <a:ext cx="320040" cy="320040"/>
          </a:xfrm>
          <a:prstGeom prst="ellipse">
            <a:avLst/>
          </a:prstGeom>
          <a:solidFill>
            <a:srgbClr val="0094D7"/>
          </a:solidFill>
          <a:ln/>
        </p:spPr>
      </p:sp>
      <p:sp>
        <p:nvSpPr>
          <p:cNvPr id="20" name="Text 18"/>
          <p:cNvSpPr/>
          <p:nvPr/>
        </p:nvSpPr>
        <p:spPr>
          <a:xfrm>
            <a:off x="5029200" y="3383280"/>
            <a:ext cx="320040" cy="32004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1" name="Text 19"/>
          <p:cNvSpPr/>
          <p:nvPr/>
        </p:nvSpPr>
        <p:spPr>
          <a:xfrm>
            <a:off x="5440680" y="3337560"/>
            <a:ext cx="3108960" cy="228600"/>
          </a:xfrm>
          <a:prstGeom prst="rect">
            <a:avLst/>
          </a:prstGeom>
          <a:noFill/>
          <a:ln/>
        </p:spPr>
        <p:txBody>
          <a:bodyPr wrap="square" rtlCol="0" anchor="ctr"/>
          <a:lstStyle/>
          <a:p>
            <a:pPr indent="0" marL="0">
              <a:buNone/>
            </a:pPr>
            <a:r>
              <a:rPr lang="en-US" sz="1300" b="1" dirty="0">
                <a:solidFill>
                  <a:srgbClr val="1E1E1E"/>
                </a:solidFill>
              </a:rPr>
              <a:t>Racial &amp; Ethnic Minority</a:t>
            </a:r>
            <a:endParaRPr lang="en-US" sz="1300" dirty="0"/>
          </a:p>
        </p:txBody>
      </p:sp>
      <p:sp>
        <p:nvSpPr>
          <p:cNvPr id="22" name="Text 20"/>
          <p:cNvSpPr/>
          <p:nvPr/>
        </p:nvSpPr>
        <p:spPr>
          <a:xfrm>
            <a:off x="5440680" y="3584448"/>
            <a:ext cx="3108960" cy="182880"/>
          </a:xfrm>
          <a:prstGeom prst="rect">
            <a:avLst/>
          </a:prstGeom>
          <a:noFill/>
          <a:ln/>
        </p:spPr>
        <p:txBody>
          <a:bodyPr wrap="square" rtlCol="0" anchor="ctr"/>
          <a:lstStyle/>
          <a:p>
            <a:pPr indent="0" marL="0">
              <a:buNone/>
            </a:pPr>
            <a:r>
              <a:rPr lang="en-US" sz="1100" dirty="0">
                <a:solidFill>
                  <a:srgbClr val="64748B"/>
                </a:solidFill>
              </a:rPr>
              <a:t>Minority population status</a:t>
            </a:r>
            <a:endParaRPr lang="en-US" sz="1100" dirty="0"/>
          </a:p>
        </p:txBody>
      </p:sp>
      <p:sp>
        <p:nvSpPr>
          <p:cNvPr id="23" name="Shape 21"/>
          <p:cNvSpPr/>
          <p:nvPr/>
        </p:nvSpPr>
        <p:spPr>
          <a:xfrm>
            <a:off x="5029200" y="4160520"/>
            <a:ext cx="320040" cy="320040"/>
          </a:xfrm>
          <a:prstGeom prst="ellipse">
            <a:avLst/>
          </a:prstGeom>
          <a:solidFill>
            <a:srgbClr val="0094D7"/>
          </a:solidFill>
          <a:ln/>
        </p:spPr>
      </p:sp>
      <p:sp>
        <p:nvSpPr>
          <p:cNvPr id="24" name="Text 22"/>
          <p:cNvSpPr/>
          <p:nvPr/>
        </p:nvSpPr>
        <p:spPr>
          <a:xfrm>
            <a:off x="5029200" y="4160520"/>
            <a:ext cx="320040" cy="320040"/>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5" name="Text 23"/>
          <p:cNvSpPr/>
          <p:nvPr/>
        </p:nvSpPr>
        <p:spPr>
          <a:xfrm>
            <a:off x="5440680" y="4114800"/>
            <a:ext cx="3108960" cy="228600"/>
          </a:xfrm>
          <a:prstGeom prst="rect">
            <a:avLst/>
          </a:prstGeom>
          <a:noFill/>
          <a:ln/>
        </p:spPr>
        <p:txBody>
          <a:bodyPr wrap="square" rtlCol="0" anchor="ctr"/>
          <a:lstStyle/>
          <a:p>
            <a:pPr indent="0" marL="0">
              <a:buNone/>
            </a:pPr>
            <a:r>
              <a:rPr lang="en-US" sz="1300" b="1" dirty="0">
                <a:solidFill>
                  <a:srgbClr val="1E1E1E"/>
                </a:solidFill>
              </a:rPr>
              <a:t>Housing &amp; Transportation</a:t>
            </a:r>
            <a:endParaRPr lang="en-US" sz="1300" dirty="0"/>
          </a:p>
        </p:txBody>
      </p:sp>
      <p:sp>
        <p:nvSpPr>
          <p:cNvPr id="26" name="Text 24"/>
          <p:cNvSpPr/>
          <p:nvPr/>
        </p:nvSpPr>
        <p:spPr>
          <a:xfrm>
            <a:off x="5440680" y="4361688"/>
            <a:ext cx="3108960" cy="182880"/>
          </a:xfrm>
          <a:prstGeom prst="rect">
            <a:avLst/>
          </a:prstGeom>
          <a:noFill/>
          <a:ln/>
        </p:spPr>
        <p:txBody>
          <a:bodyPr wrap="square" rtlCol="0" anchor="ctr"/>
          <a:lstStyle/>
          <a:p>
            <a:pPr indent="0" marL="0">
              <a:buNone/>
            </a:pPr>
            <a:r>
              <a:rPr lang="en-US" sz="1100" dirty="0">
                <a:solidFill>
                  <a:srgbClr val="64748B"/>
                </a:solidFill>
              </a:rPr>
              <a:t>Housing type, vehicle access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4000" b="1" dirty="0">
                <a:solidFill>
                  <a:srgbClr val="003359"/>
                </a:solidFill>
              </a:rPr>
              <a:t>CDC SVI 2022: By the Numbers</a:t>
            </a:r>
            <a:endParaRPr lang="en-US" sz="4000" dirty="0"/>
          </a:p>
        </p:txBody>
      </p:sp>
      <p:sp>
        <p:nvSpPr>
          <p:cNvPr id="3" name="Shape 1"/>
          <p:cNvSpPr/>
          <p:nvPr/>
        </p:nvSpPr>
        <p:spPr>
          <a:xfrm>
            <a:off x="731520" y="1371600"/>
            <a:ext cx="3657600" cy="1188720"/>
          </a:xfrm>
          <a:prstGeom prst="rect">
            <a:avLst/>
          </a:prstGeom>
          <a:solidFill>
            <a:srgbClr val="BED6DB"/>
          </a:solidFill>
          <a:ln/>
        </p:spPr>
      </p:sp>
      <p:sp>
        <p:nvSpPr>
          <p:cNvPr id="4" name="Text 2"/>
          <p:cNvSpPr/>
          <p:nvPr/>
        </p:nvSpPr>
        <p:spPr>
          <a:xfrm>
            <a:off x="731520" y="1554480"/>
            <a:ext cx="3657600" cy="548640"/>
          </a:xfrm>
          <a:prstGeom prst="rect">
            <a:avLst/>
          </a:prstGeom>
          <a:noFill/>
          <a:ln/>
        </p:spPr>
        <p:txBody>
          <a:bodyPr wrap="square" rtlCol="0" anchor="ctr"/>
          <a:lstStyle/>
          <a:p>
            <a:pPr algn="ctr" indent="0" marL="0">
              <a:buNone/>
            </a:pPr>
            <a:r>
              <a:rPr lang="en-US" sz="4800" b="1" dirty="0">
                <a:solidFill>
                  <a:srgbClr val="0094D7"/>
                </a:solidFill>
              </a:rPr>
              <a:t>33,642</a:t>
            </a:r>
            <a:endParaRPr lang="en-US" sz="4800" dirty="0"/>
          </a:p>
        </p:txBody>
      </p:sp>
      <p:sp>
        <p:nvSpPr>
          <p:cNvPr id="5" name="Text 3"/>
          <p:cNvSpPr/>
          <p:nvPr/>
        </p:nvSpPr>
        <p:spPr>
          <a:xfrm>
            <a:off x="731520" y="2148840"/>
            <a:ext cx="3657600" cy="274320"/>
          </a:xfrm>
          <a:prstGeom prst="rect">
            <a:avLst/>
          </a:prstGeom>
          <a:noFill/>
          <a:ln/>
        </p:spPr>
        <p:txBody>
          <a:bodyPr wrap="square" rtlCol="0" anchor="ctr"/>
          <a:lstStyle/>
          <a:p>
            <a:pPr algn="ctr" indent="0" marL="0">
              <a:buNone/>
            </a:pPr>
            <a:r>
              <a:rPr lang="en-US" sz="1600" dirty="0">
                <a:solidFill>
                  <a:srgbClr val="1E1E1E"/>
                </a:solidFill>
              </a:rPr>
              <a:t>ZIP Codes Covered</a:t>
            </a:r>
            <a:endParaRPr lang="en-US" sz="1600" dirty="0"/>
          </a:p>
        </p:txBody>
      </p:sp>
      <p:sp>
        <p:nvSpPr>
          <p:cNvPr id="6" name="Shape 4"/>
          <p:cNvSpPr/>
          <p:nvPr/>
        </p:nvSpPr>
        <p:spPr>
          <a:xfrm>
            <a:off x="4754880" y="1371600"/>
            <a:ext cx="3657600" cy="1188720"/>
          </a:xfrm>
          <a:prstGeom prst="rect">
            <a:avLst/>
          </a:prstGeom>
          <a:solidFill>
            <a:srgbClr val="BED6DB"/>
          </a:solidFill>
          <a:ln/>
        </p:spPr>
      </p:sp>
      <p:sp>
        <p:nvSpPr>
          <p:cNvPr id="7" name="Text 5"/>
          <p:cNvSpPr/>
          <p:nvPr/>
        </p:nvSpPr>
        <p:spPr>
          <a:xfrm>
            <a:off x="4754880" y="1554480"/>
            <a:ext cx="3657600" cy="548640"/>
          </a:xfrm>
          <a:prstGeom prst="rect">
            <a:avLst/>
          </a:prstGeom>
          <a:noFill/>
          <a:ln/>
        </p:spPr>
        <p:txBody>
          <a:bodyPr wrap="square" rtlCol="0" anchor="ctr"/>
          <a:lstStyle/>
          <a:p>
            <a:pPr algn="ctr" indent="0" marL="0">
              <a:buNone/>
            </a:pPr>
            <a:r>
              <a:rPr lang="en-US" sz="4800" b="1" dirty="0">
                <a:solidFill>
                  <a:srgbClr val="8FCAE7"/>
                </a:solidFill>
              </a:rPr>
              <a:t>331M</a:t>
            </a:r>
            <a:endParaRPr lang="en-US" sz="4800" dirty="0"/>
          </a:p>
        </p:txBody>
      </p:sp>
      <p:sp>
        <p:nvSpPr>
          <p:cNvPr id="8" name="Text 6"/>
          <p:cNvSpPr/>
          <p:nvPr/>
        </p:nvSpPr>
        <p:spPr>
          <a:xfrm>
            <a:off x="4754880" y="2148840"/>
            <a:ext cx="3657600" cy="274320"/>
          </a:xfrm>
          <a:prstGeom prst="rect">
            <a:avLst/>
          </a:prstGeom>
          <a:noFill/>
          <a:ln/>
        </p:spPr>
        <p:txBody>
          <a:bodyPr wrap="square" rtlCol="0" anchor="ctr"/>
          <a:lstStyle/>
          <a:p>
            <a:pPr algn="ctr" indent="0" marL="0">
              <a:buNone/>
            </a:pPr>
            <a:r>
              <a:rPr lang="en-US" sz="1600" dirty="0">
                <a:solidFill>
                  <a:srgbClr val="1E1E1E"/>
                </a:solidFill>
              </a:rPr>
              <a:t>People Covered</a:t>
            </a:r>
            <a:endParaRPr lang="en-US" sz="1600" dirty="0"/>
          </a:p>
        </p:txBody>
      </p:sp>
      <p:sp>
        <p:nvSpPr>
          <p:cNvPr id="9" name="Shape 7"/>
          <p:cNvSpPr/>
          <p:nvPr/>
        </p:nvSpPr>
        <p:spPr>
          <a:xfrm>
            <a:off x="731520" y="3200400"/>
            <a:ext cx="3657600" cy="1188720"/>
          </a:xfrm>
          <a:prstGeom prst="rect">
            <a:avLst/>
          </a:prstGeom>
          <a:solidFill>
            <a:srgbClr val="BED6DB"/>
          </a:solidFill>
          <a:ln/>
        </p:spPr>
      </p:sp>
      <p:sp>
        <p:nvSpPr>
          <p:cNvPr id="10" name="Text 8"/>
          <p:cNvSpPr/>
          <p:nvPr/>
        </p:nvSpPr>
        <p:spPr>
          <a:xfrm>
            <a:off x="731520" y="3383280"/>
            <a:ext cx="3657600" cy="548640"/>
          </a:xfrm>
          <a:prstGeom prst="rect">
            <a:avLst/>
          </a:prstGeom>
          <a:noFill/>
          <a:ln/>
        </p:spPr>
        <p:txBody>
          <a:bodyPr wrap="square" rtlCol="0" anchor="ctr"/>
          <a:lstStyle/>
          <a:p>
            <a:pPr algn="ctr" indent="0" marL="0">
              <a:buNone/>
            </a:pPr>
            <a:r>
              <a:rPr lang="en-US" sz="4800" b="1" dirty="0">
                <a:solidFill>
                  <a:srgbClr val="0094D7"/>
                </a:solidFill>
              </a:rPr>
              <a:t>16</a:t>
            </a:r>
            <a:endParaRPr lang="en-US" sz="4800" dirty="0"/>
          </a:p>
        </p:txBody>
      </p:sp>
      <p:sp>
        <p:nvSpPr>
          <p:cNvPr id="11" name="Text 9"/>
          <p:cNvSpPr/>
          <p:nvPr/>
        </p:nvSpPr>
        <p:spPr>
          <a:xfrm>
            <a:off x="731520" y="3977640"/>
            <a:ext cx="3657600" cy="274320"/>
          </a:xfrm>
          <a:prstGeom prst="rect">
            <a:avLst/>
          </a:prstGeom>
          <a:noFill/>
          <a:ln/>
        </p:spPr>
        <p:txBody>
          <a:bodyPr wrap="square" rtlCol="0" anchor="ctr"/>
          <a:lstStyle/>
          <a:p>
            <a:pPr algn="ctr" indent="0" marL="0">
              <a:buNone/>
            </a:pPr>
            <a:r>
              <a:rPr lang="en-US" sz="1600" dirty="0">
                <a:solidFill>
                  <a:srgbClr val="1E1E1E"/>
                </a:solidFill>
              </a:rPr>
              <a:t>Core Variables</a:t>
            </a:r>
            <a:endParaRPr lang="en-US" sz="1600" dirty="0"/>
          </a:p>
        </p:txBody>
      </p:sp>
      <p:sp>
        <p:nvSpPr>
          <p:cNvPr id="12" name="Shape 10"/>
          <p:cNvSpPr/>
          <p:nvPr/>
        </p:nvSpPr>
        <p:spPr>
          <a:xfrm>
            <a:off x="4754880" y="3200400"/>
            <a:ext cx="3657600" cy="1188720"/>
          </a:xfrm>
          <a:prstGeom prst="rect">
            <a:avLst/>
          </a:prstGeom>
          <a:solidFill>
            <a:srgbClr val="BED6DB"/>
          </a:solidFill>
          <a:ln/>
        </p:spPr>
      </p:sp>
      <p:sp>
        <p:nvSpPr>
          <p:cNvPr id="13" name="Text 11"/>
          <p:cNvSpPr/>
          <p:nvPr/>
        </p:nvSpPr>
        <p:spPr>
          <a:xfrm>
            <a:off x="4754880" y="3383280"/>
            <a:ext cx="3657600" cy="548640"/>
          </a:xfrm>
          <a:prstGeom prst="rect">
            <a:avLst/>
          </a:prstGeom>
          <a:noFill/>
          <a:ln/>
        </p:spPr>
        <p:txBody>
          <a:bodyPr wrap="square" rtlCol="0" anchor="ctr"/>
          <a:lstStyle/>
          <a:p>
            <a:pPr algn="ctr" indent="0" marL="0">
              <a:buNone/>
            </a:pPr>
            <a:r>
              <a:rPr lang="en-US" sz="4800" b="1" dirty="0">
                <a:solidFill>
                  <a:srgbClr val="8FCAE7"/>
                </a:solidFill>
              </a:rPr>
              <a:t>153</a:t>
            </a:r>
            <a:endParaRPr lang="en-US" sz="4800" dirty="0"/>
          </a:p>
        </p:txBody>
      </p:sp>
      <p:sp>
        <p:nvSpPr>
          <p:cNvPr id="14" name="Text 12"/>
          <p:cNvSpPr/>
          <p:nvPr/>
        </p:nvSpPr>
        <p:spPr>
          <a:xfrm>
            <a:off x="4754880" y="3977640"/>
            <a:ext cx="3657600" cy="274320"/>
          </a:xfrm>
          <a:prstGeom prst="rect">
            <a:avLst/>
          </a:prstGeom>
          <a:noFill/>
          <a:ln/>
        </p:spPr>
        <p:txBody>
          <a:bodyPr wrap="square" rtlCol="0" anchor="ctr"/>
          <a:lstStyle/>
          <a:p>
            <a:pPr algn="ctr" indent="0" marL="0">
              <a:buNone/>
            </a:pPr>
            <a:r>
              <a:rPr lang="en-US" sz="1600" dirty="0">
                <a:solidFill>
                  <a:srgbClr val="1E1E1E"/>
                </a:solidFill>
              </a:rPr>
              <a:t>Total Data Points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ED6D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4000" b="1" dirty="0">
                <a:solidFill>
                  <a:srgbClr val="003359"/>
                </a:solidFill>
              </a:rPr>
              <a:t>Why Add SVI to Our Population Health Tool?</a:t>
            </a:r>
            <a:endParaRPr lang="en-US" sz="4000" dirty="0"/>
          </a:p>
        </p:txBody>
      </p:sp>
      <p:sp>
        <p:nvSpPr>
          <p:cNvPr id="3" name="Shape 1"/>
          <p:cNvSpPr/>
          <p:nvPr/>
        </p:nvSpPr>
        <p:spPr>
          <a:xfrm>
            <a:off x="457200" y="1097280"/>
            <a:ext cx="2743200" cy="3474720"/>
          </a:xfrm>
          <a:prstGeom prst="rect">
            <a:avLst/>
          </a:prstGeom>
          <a:solidFill>
            <a:srgbClr val="FFFFFF"/>
          </a:solidFill>
          <a:ln/>
        </p:spPr>
      </p:sp>
      <p:sp>
        <p:nvSpPr>
          <p:cNvPr id="4" name="Shape 2"/>
          <p:cNvSpPr/>
          <p:nvPr/>
        </p:nvSpPr>
        <p:spPr>
          <a:xfrm>
            <a:off x="457200" y="1097280"/>
            <a:ext cx="2743200" cy="457200"/>
          </a:xfrm>
          <a:prstGeom prst="rect">
            <a:avLst/>
          </a:prstGeom>
          <a:solidFill>
            <a:srgbClr val="0094D7"/>
          </a:solidFill>
          <a:ln/>
        </p:spPr>
      </p:sp>
      <p:sp>
        <p:nvSpPr>
          <p:cNvPr id="5" name="Text 3"/>
          <p:cNvSpPr/>
          <p:nvPr/>
        </p:nvSpPr>
        <p:spPr>
          <a:xfrm>
            <a:off x="457200" y="1188720"/>
            <a:ext cx="2743200" cy="274320"/>
          </a:xfrm>
          <a:prstGeom prst="rect">
            <a:avLst/>
          </a:prstGeom>
          <a:noFill/>
          <a:ln/>
        </p:spPr>
        <p:txBody>
          <a:bodyPr wrap="square" rtlCol="0" anchor="ctr"/>
          <a:lstStyle/>
          <a:p>
            <a:pPr algn="ctr" indent="0" marL="0">
              <a:buNone/>
            </a:pPr>
            <a:r>
              <a:rPr lang="en-US" sz="1800" b="1" dirty="0">
                <a:solidFill>
                  <a:srgbClr val="FFFFFF"/>
                </a:solidFill>
              </a:rPr>
              <a:t>Scientific Validation</a:t>
            </a:r>
            <a:endParaRPr lang="en-US" sz="1800" dirty="0"/>
          </a:p>
        </p:txBody>
      </p:sp>
      <p:sp>
        <p:nvSpPr>
          <p:cNvPr id="6" name="Text 4"/>
          <p:cNvSpPr/>
          <p:nvPr/>
        </p:nvSpPr>
        <p:spPr>
          <a:xfrm>
            <a:off x="731520" y="1828800"/>
            <a:ext cx="2194560" cy="2560320"/>
          </a:xfrm>
          <a:prstGeom prst="rect">
            <a:avLst/>
          </a:prstGeom>
          <a:noFill/>
          <a:ln/>
        </p:spPr>
        <p:txBody>
          <a:bodyPr wrap="square" rtlCol="0" anchor="ctr"/>
          <a:lstStyle/>
          <a:p>
            <a:pPr marL="342900" indent="-342900">
              <a:buSzPct val="100000"/>
              <a:buChar char="•"/>
            </a:pPr>
            <a:r>
              <a:rPr lang="en-US" sz="1200" dirty="0">
                <a:solidFill>
                  <a:srgbClr val="1E1E1E"/>
                </a:solidFill>
              </a:rPr>
              <a:t>CDC-developed and peer-reviewed</a:t>
            </a:r>
            <a:endParaRPr lang="en-US" sz="1200" dirty="0"/>
          </a:p>
          <a:p>
            <a:pPr marL="342900" indent="-342900">
              <a:buSzPct val="100000"/>
              <a:buChar char="•"/>
            </a:pPr>
            <a:r>
              <a:rPr lang="en-US" sz="1200" dirty="0">
                <a:solidFill>
                  <a:srgbClr val="1E1E1E"/>
                </a:solidFill>
              </a:rPr>
              <a:t>Used in 100+ published studies</a:t>
            </a:r>
            <a:endParaRPr lang="en-US" sz="1200" dirty="0"/>
          </a:p>
          <a:p>
            <a:pPr marL="342900" indent="-342900">
              <a:buSzPct val="100000"/>
              <a:buChar char="•"/>
            </a:pPr>
            <a:r>
              <a:rPr lang="en-US" sz="1200" dirty="0">
                <a:solidFill>
                  <a:srgbClr val="1E1E1E"/>
                </a:solidFill>
              </a:rPr>
              <a:t>Standardized methodology ensures consistency</a:t>
            </a:r>
            <a:endParaRPr lang="en-US" sz="1200" dirty="0"/>
          </a:p>
          <a:p>
            <a:pPr marL="342900" indent="-342900">
              <a:buSzPct val="100000"/>
              <a:buChar char="•"/>
            </a:pPr>
            <a:r>
              <a:rPr lang="en-US" sz="1200" dirty="0">
                <a:solidFill>
                  <a:srgbClr val="1E1E1E"/>
                </a:solidFill>
              </a:rPr>
              <a:t>Updated annually with latest ACS data</a:t>
            </a:r>
            <a:endParaRPr lang="en-US" sz="1200" dirty="0"/>
          </a:p>
        </p:txBody>
      </p:sp>
      <p:sp>
        <p:nvSpPr>
          <p:cNvPr id="7" name="Shape 5"/>
          <p:cNvSpPr/>
          <p:nvPr/>
        </p:nvSpPr>
        <p:spPr>
          <a:xfrm>
            <a:off x="3383280" y="1097280"/>
            <a:ext cx="2743200" cy="3474720"/>
          </a:xfrm>
          <a:prstGeom prst="rect">
            <a:avLst/>
          </a:prstGeom>
          <a:solidFill>
            <a:srgbClr val="FFFFFF"/>
          </a:solidFill>
          <a:ln/>
        </p:spPr>
      </p:sp>
      <p:sp>
        <p:nvSpPr>
          <p:cNvPr id="8" name="Shape 6"/>
          <p:cNvSpPr/>
          <p:nvPr/>
        </p:nvSpPr>
        <p:spPr>
          <a:xfrm>
            <a:off x="3383280" y="1097280"/>
            <a:ext cx="2743200" cy="457200"/>
          </a:xfrm>
          <a:prstGeom prst="rect">
            <a:avLst/>
          </a:prstGeom>
          <a:solidFill>
            <a:srgbClr val="0094D7"/>
          </a:solidFill>
          <a:ln/>
        </p:spPr>
      </p:sp>
      <p:sp>
        <p:nvSpPr>
          <p:cNvPr id="9" name="Text 7"/>
          <p:cNvSpPr/>
          <p:nvPr/>
        </p:nvSpPr>
        <p:spPr>
          <a:xfrm>
            <a:off x="3383280" y="1188720"/>
            <a:ext cx="2743200" cy="274320"/>
          </a:xfrm>
          <a:prstGeom prst="rect">
            <a:avLst/>
          </a:prstGeom>
          <a:noFill/>
          <a:ln/>
        </p:spPr>
        <p:txBody>
          <a:bodyPr wrap="square" rtlCol="0" anchor="ctr"/>
          <a:lstStyle/>
          <a:p>
            <a:pPr algn="ctr" indent="0" marL="0">
              <a:buNone/>
            </a:pPr>
            <a:r>
              <a:rPr lang="en-US" sz="1800" b="1" dirty="0">
                <a:solidFill>
                  <a:srgbClr val="FFFFFF"/>
                </a:solidFill>
              </a:rPr>
              <a:t>Fills Critical Gaps</a:t>
            </a:r>
            <a:endParaRPr lang="en-US" sz="1800" dirty="0"/>
          </a:p>
        </p:txBody>
      </p:sp>
      <p:sp>
        <p:nvSpPr>
          <p:cNvPr id="10" name="Text 8"/>
          <p:cNvSpPr/>
          <p:nvPr/>
        </p:nvSpPr>
        <p:spPr>
          <a:xfrm>
            <a:off x="3657600" y="1828800"/>
            <a:ext cx="2194560" cy="2560320"/>
          </a:xfrm>
          <a:prstGeom prst="rect">
            <a:avLst/>
          </a:prstGeom>
          <a:noFill/>
          <a:ln/>
        </p:spPr>
        <p:txBody>
          <a:bodyPr wrap="square" rtlCol="0" anchor="ctr"/>
          <a:lstStyle/>
          <a:p>
            <a:pPr marL="342900" indent="-342900">
              <a:buSzPct val="100000"/>
              <a:buChar char="•"/>
            </a:pPr>
            <a:r>
              <a:rPr lang="en-US" sz="1200" dirty="0">
                <a:solidFill>
                  <a:srgbClr val="1E1E1E"/>
                </a:solidFill>
              </a:rPr>
              <a:t>Complements existing SDoH metrics</a:t>
            </a:r>
            <a:endParaRPr lang="en-US" sz="1200" dirty="0"/>
          </a:p>
          <a:p>
            <a:pPr marL="342900" indent="-342900">
              <a:buSzPct val="100000"/>
              <a:buChar char="•"/>
            </a:pPr>
            <a:r>
              <a:rPr lang="en-US" sz="1200" dirty="0">
                <a:solidFill>
                  <a:srgbClr val="1E1E1E"/>
                </a:solidFill>
              </a:rPr>
              <a:t>Composite scores show cumulative vulnerability</a:t>
            </a:r>
            <a:endParaRPr lang="en-US" sz="1200" dirty="0"/>
          </a:p>
          <a:p>
            <a:pPr marL="342900" indent="-342900">
              <a:buSzPct val="100000"/>
              <a:buChar char="•"/>
            </a:pPr>
            <a:r>
              <a:rPr lang="en-US" sz="1200" dirty="0">
                <a:solidFill>
                  <a:srgbClr val="1E1E1E"/>
                </a:solidFill>
              </a:rPr>
              <a:t>Identifies hard-to-reach populations</a:t>
            </a:r>
            <a:endParaRPr lang="en-US" sz="1200" dirty="0"/>
          </a:p>
          <a:p>
            <a:pPr marL="342900" indent="-342900">
              <a:buSzPct val="100000"/>
              <a:buChar char="•"/>
            </a:pPr>
            <a:r>
              <a:rPr lang="en-US" sz="1200" dirty="0">
                <a:solidFill>
                  <a:srgbClr val="1E1E1E"/>
                </a:solidFill>
              </a:rPr>
              <a:t>Enables equity-focused prioritization</a:t>
            </a:r>
            <a:endParaRPr lang="en-US" sz="1200" dirty="0"/>
          </a:p>
        </p:txBody>
      </p:sp>
      <p:sp>
        <p:nvSpPr>
          <p:cNvPr id="11" name="Shape 9"/>
          <p:cNvSpPr/>
          <p:nvPr/>
        </p:nvSpPr>
        <p:spPr>
          <a:xfrm>
            <a:off x="6309360" y="1097280"/>
            <a:ext cx="2743200" cy="3474720"/>
          </a:xfrm>
          <a:prstGeom prst="rect">
            <a:avLst/>
          </a:prstGeom>
          <a:solidFill>
            <a:srgbClr val="FFFFFF"/>
          </a:solidFill>
          <a:ln/>
        </p:spPr>
      </p:sp>
      <p:sp>
        <p:nvSpPr>
          <p:cNvPr id="12" name="Shape 10"/>
          <p:cNvSpPr/>
          <p:nvPr/>
        </p:nvSpPr>
        <p:spPr>
          <a:xfrm>
            <a:off x="6309360" y="1097280"/>
            <a:ext cx="2743200" cy="457200"/>
          </a:xfrm>
          <a:prstGeom prst="rect">
            <a:avLst/>
          </a:prstGeom>
          <a:solidFill>
            <a:srgbClr val="0094D7"/>
          </a:solidFill>
          <a:ln/>
        </p:spPr>
      </p:sp>
      <p:sp>
        <p:nvSpPr>
          <p:cNvPr id="13" name="Text 11"/>
          <p:cNvSpPr/>
          <p:nvPr/>
        </p:nvSpPr>
        <p:spPr>
          <a:xfrm>
            <a:off x="6309360" y="1188720"/>
            <a:ext cx="2743200" cy="274320"/>
          </a:xfrm>
          <a:prstGeom prst="rect">
            <a:avLst/>
          </a:prstGeom>
          <a:noFill/>
          <a:ln/>
        </p:spPr>
        <p:txBody>
          <a:bodyPr wrap="square" rtlCol="0" anchor="ctr"/>
          <a:lstStyle/>
          <a:p>
            <a:pPr algn="ctr" indent="0" marL="0">
              <a:buNone/>
            </a:pPr>
            <a:r>
              <a:rPr lang="en-US" sz="1800" b="1" dirty="0">
                <a:solidFill>
                  <a:srgbClr val="FFFFFF"/>
                </a:solidFill>
              </a:rPr>
              <a:t>Actionable Insights</a:t>
            </a:r>
            <a:endParaRPr lang="en-US" sz="1800" dirty="0"/>
          </a:p>
        </p:txBody>
      </p:sp>
      <p:sp>
        <p:nvSpPr>
          <p:cNvPr id="14" name="Text 12"/>
          <p:cNvSpPr/>
          <p:nvPr/>
        </p:nvSpPr>
        <p:spPr>
          <a:xfrm>
            <a:off x="6583680" y="1828800"/>
            <a:ext cx="2194560" cy="2560320"/>
          </a:xfrm>
          <a:prstGeom prst="rect">
            <a:avLst/>
          </a:prstGeom>
          <a:noFill/>
          <a:ln/>
        </p:spPr>
        <p:txBody>
          <a:bodyPr wrap="square" rtlCol="0" anchor="ctr"/>
          <a:lstStyle/>
          <a:p>
            <a:pPr marL="342900" indent="-342900">
              <a:buSzPct val="100000"/>
              <a:buChar char="•"/>
            </a:pPr>
            <a:r>
              <a:rPr lang="en-US" sz="1200" dirty="0">
                <a:solidFill>
                  <a:srgbClr val="1E1E1E"/>
                </a:solidFill>
              </a:rPr>
              <a:t>Guides resource allocation decisions</a:t>
            </a:r>
            <a:endParaRPr lang="en-US" sz="1200" dirty="0"/>
          </a:p>
          <a:p>
            <a:pPr marL="342900" indent="-342900">
              <a:buSzPct val="100000"/>
              <a:buChar char="•"/>
            </a:pPr>
            <a:r>
              <a:rPr lang="en-US" sz="1200" dirty="0">
                <a:solidFill>
                  <a:srgbClr val="1E1E1E"/>
                </a:solidFill>
              </a:rPr>
              <a:t>Informs intervention design</a:t>
            </a:r>
            <a:endParaRPr lang="en-US" sz="1200" dirty="0"/>
          </a:p>
          <a:p>
            <a:pPr marL="342900" indent="-342900">
              <a:buSzPct val="100000"/>
              <a:buChar char="•"/>
            </a:pPr>
            <a:r>
              <a:rPr lang="en-US" sz="1200" dirty="0">
                <a:solidFill>
                  <a:srgbClr val="1E1E1E"/>
                </a:solidFill>
              </a:rPr>
              <a:t>Supports HEDIS stratification</a:t>
            </a:r>
            <a:endParaRPr lang="en-US" sz="1200" dirty="0"/>
          </a:p>
          <a:p>
            <a:pPr marL="342900" indent="-342900">
              <a:buSzPct val="100000"/>
              <a:buChar char="•"/>
            </a:pPr>
            <a:r>
              <a:rPr lang="en-US" sz="1200" dirty="0">
                <a:solidFill>
                  <a:srgbClr val="1E1E1E"/>
                </a:solidFill>
              </a:rPr>
              <a:t>Strengthens grant applications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4000" b="1" dirty="0">
                <a:solidFill>
                  <a:srgbClr val="003359"/>
                </a:solidFill>
              </a:rPr>
              <a:t>Recommended Variables for Integration</a:t>
            </a:r>
            <a:endParaRPr lang="en-US" sz="4000" dirty="0"/>
          </a:p>
        </p:txBody>
      </p:sp>
      <p:sp>
        <p:nvSpPr>
          <p:cNvPr id="3" name="Text 1"/>
          <p:cNvSpPr/>
          <p:nvPr/>
        </p:nvSpPr>
        <p:spPr>
          <a:xfrm>
            <a:off x="457200" y="868680"/>
            <a:ext cx="8229600" cy="274320"/>
          </a:xfrm>
          <a:prstGeom prst="rect">
            <a:avLst/>
          </a:prstGeom>
          <a:noFill/>
          <a:ln/>
        </p:spPr>
        <p:txBody>
          <a:bodyPr wrap="square" rtlCol="0" anchor="ctr"/>
          <a:lstStyle/>
          <a:p>
            <a:pPr indent="0" marL="0">
              <a:buNone/>
            </a:pPr>
            <a:r>
              <a:rPr lang="en-US" sz="1400" i="1" dirty="0">
                <a:solidFill>
                  <a:srgbClr val="64748B"/>
                </a:solidFill>
              </a:rPr>
              <a:t>15-17 variables optimized for gap closure campaigns and population targeting</a:t>
            </a:r>
            <a:endParaRPr lang="en-US" sz="1400" dirty="0"/>
          </a:p>
        </p:txBody>
      </p:sp>
      <p:sp>
        <p:nvSpPr>
          <p:cNvPr id="4" name="Shape 2"/>
          <p:cNvSpPr/>
          <p:nvPr/>
        </p:nvSpPr>
        <p:spPr>
          <a:xfrm>
            <a:off x="457200" y="1371600"/>
            <a:ext cx="2743200" cy="3200400"/>
          </a:xfrm>
          <a:prstGeom prst="rect">
            <a:avLst/>
          </a:prstGeom>
          <a:solidFill>
            <a:srgbClr val="BED6DB"/>
          </a:solidFill>
          <a:ln/>
        </p:spPr>
      </p:sp>
      <p:sp>
        <p:nvSpPr>
          <p:cNvPr id="5" name="Text 3"/>
          <p:cNvSpPr/>
          <p:nvPr/>
        </p:nvSpPr>
        <p:spPr>
          <a:xfrm>
            <a:off x="640080" y="1554480"/>
            <a:ext cx="2377440" cy="274320"/>
          </a:xfrm>
          <a:prstGeom prst="rect">
            <a:avLst/>
          </a:prstGeom>
          <a:noFill/>
          <a:ln/>
        </p:spPr>
        <p:txBody>
          <a:bodyPr wrap="square" rtlCol="0" anchor="ctr"/>
          <a:lstStyle/>
          <a:p>
            <a:pPr indent="0" marL="0">
              <a:buNone/>
            </a:pPr>
            <a:r>
              <a:rPr lang="en-US" sz="1600" b="1" dirty="0">
                <a:solidFill>
                  <a:srgbClr val="0094D7"/>
                </a:solidFill>
              </a:rPr>
              <a:t>Core SVI Themes</a:t>
            </a:r>
            <a:endParaRPr lang="en-US" sz="1600" dirty="0"/>
          </a:p>
        </p:txBody>
      </p:sp>
      <p:sp>
        <p:nvSpPr>
          <p:cNvPr id="6" name="Text 4"/>
          <p:cNvSpPr/>
          <p:nvPr/>
        </p:nvSpPr>
        <p:spPr>
          <a:xfrm>
            <a:off x="640080" y="1874520"/>
            <a:ext cx="2377440" cy="228600"/>
          </a:xfrm>
          <a:prstGeom prst="rect">
            <a:avLst/>
          </a:prstGeom>
          <a:noFill/>
          <a:ln/>
        </p:spPr>
        <p:txBody>
          <a:bodyPr wrap="square" rtlCol="0" anchor="ctr"/>
          <a:lstStyle/>
          <a:p>
            <a:pPr indent="0" marL="0">
              <a:buNone/>
            </a:pPr>
            <a:r>
              <a:rPr lang="en-US" sz="1100" i="1" dirty="0">
                <a:solidFill>
                  <a:srgbClr val="64748B"/>
                </a:solidFill>
              </a:rPr>
              <a:t>Priority Scoring (5 vars)</a:t>
            </a:r>
            <a:endParaRPr lang="en-US" sz="1100" dirty="0"/>
          </a:p>
        </p:txBody>
      </p:sp>
      <p:sp>
        <p:nvSpPr>
          <p:cNvPr id="7" name="Text 5"/>
          <p:cNvSpPr/>
          <p:nvPr/>
        </p:nvSpPr>
        <p:spPr>
          <a:xfrm>
            <a:off x="731520" y="2240280"/>
            <a:ext cx="2194560" cy="2103120"/>
          </a:xfrm>
          <a:prstGeom prst="rect">
            <a:avLst/>
          </a:prstGeom>
          <a:noFill/>
          <a:ln/>
        </p:spPr>
        <p:txBody>
          <a:bodyPr wrap="square" rtlCol="0" anchor="ctr"/>
          <a:lstStyle/>
          <a:p>
            <a:pPr marL="342900" indent="-342900">
              <a:buSzPct val="100000"/>
              <a:buChar char="•"/>
            </a:pPr>
            <a:r>
              <a:rPr lang="en-US" sz="1100" dirty="0">
                <a:solidFill>
                  <a:srgbClr val="1E1E1E"/>
                </a:solidFill>
              </a:rPr>
              <a:t>RPL_THEMES - Overall</a:t>
            </a:r>
            <a:endParaRPr lang="en-US" sz="1100" dirty="0"/>
          </a:p>
          <a:p>
            <a:pPr marL="342900" indent="-342900">
              <a:buSzPct val="100000"/>
              <a:buChar char="•"/>
            </a:pPr>
            <a:r>
              <a:rPr lang="en-US" sz="1100" dirty="0">
                <a:solidFill>
                  <a:srgbClr val="1E1E1E"/>
                </a:solidFill>
              </a:rPr>
              <a:t>RPL_THEME1 - Socioeconomic</a:t>
            </a:r>
            <a:endParaRPr lang="en-US" sz="1100" dirty="0"/>
          </a:p>
          <a:p>
            <a:pPr marL="342900" indent="-342900">
              <a:buSzPct val="100000"/>
              <a:buChar char="•"/>
            </a:pPr>
            <a:r>
              <a:rPr lang="en-US" sz="1100" dirty="0">
                <a:solidFill>
                  <a:srgbClr val="1E1E1E"/>
                </a:solidFill>
              </a:rPr>
              <a:t>RPL_THEME2 - Household</a:t>
            </a:r>
            <a:endParaRPr lang="en-US" sz="1100" dirty="0"/>
          </a:p>
          <a:p>
            <a:pPr marL="342900" indent="-342900">
              <a:buSzPct val="100000"/>
              <a:buChar char="•"/>
            </a:pPr>
            <a:r>
              <a:rPr lang="en-US" sz="1100" dirty="0">
                <a:solidFill>
                  <a:srgbClr val="1E1E1E"/>
                </a:solidFill>
              </a:rPr>
              <a:t>RPL_THEME3 - Racial/Ethnic</a:t>
            </a:r>
            <a:endParaRPr lang="en-US" sz="1100" dirty="0"/>
          </a:p>
          <a:p>
            <a:pPr marL="342900" indent="-342900">
              <a:buSzPct val="100000"/>
              <a:buChar char="•"/>
            </a:pPr>
            <a:r>
              <a:rPr lang="en-US" sz="1100" dirty="0">
                <a:solidFill>
                  <a:srgbClr val="1E1E1E"/>
                </a:solidFill>
              </a:rPr>
              <a:t>RPL_THEME4 - Housing/Transport</a:t>
            </a:r>
            <a:endParaRPr lang="en-US" sz="1100" dirty="0"/>
          </a:p>
        </p:txBody>
      </p:sp>
      <p:sp>
        <p:nvSpPr>
          <p:cNvPr id="8" name="Shape 6"/>
          <p:cNvSpPr/>
          <p:nvPr/>
        </p:nvSpPr>
        <p:spPr>
          <a:xfrm>
            <a:off x="3383280" y="1371600"/>
            <a:ext cx="2743200" cy="3200400"/>
          </a:xfrm>
          <a:prstGeom prst="rect">
            <a:avLst/>
          </a:prstGeom>
          <a:solidFill>
            <a:srgbClr val="BED6DB"/>
          </a:solidFill>
          <a:ln/>
        </p:spPr>
      </p:sp>
      <p:sp>
        <p:nvSpPr>
          <p:cNvPr id="9" name="Text 7"/>
          <p:cNvSpPr/>
          <p:nvPr/>
        </p:nvSpPr>
        <p:spPr>
          <a:xfrm>
            <a:off x="3566160" y="1554480"/>
            <a:ext cx="2377440" cy="274320"/>
          </a:xfrm>
          <a:prstGeom prst="rect">
            <a:avLst/>
          </a:prstGeom>
          <a:noFill/>
          <a:ln/>
        </p:spPr>
        <p:txBody>
          <a:bodyPr wrap="square" rtlCol="0" anchor="ctr"/>
          <a:lstStyle/>
          <a:p>
            <a:pPr indent="0" marL="0">
              <a:buNone/>
            </a:pPr>
            <a:r>
              <a:rPr lang="en-US" sz="1600" b="1" dirty="0">
                <a:solidFill>
                  <a:srgbClr val="0094D7"/>
                </a:solidFill>
              </a:rPr>
              <a:t>Demographics</a:t>
            </a:r>
            <a:endParaRPr lang="en-US" sz="1600" dirty="0"/>
          </a:p>
        </p:txBody>
      </p:sp>
      <p:sp>
        <p:nvSpPr>
          <p:cNvPr id="10" name="Text 8"/>
          <p:cNvSpPr/>
          <p:nvPr/>
        </p:nvSpPr>
        <p:spPr>
          <a:xfrm>
            <a:off x="3566160" y="1874520"/>
            <a:ext cx="2377440" cy="228600"/>
          </a:xfrm>
          <a:prstGeom prst="rect">
            <a:avLst/>
          </a:prstGeom>
          <a:noFill/>
          <a:ln/>
        </p:spPr>
        <p:txBody>
          <a:bodyPr wrap="square" rtlCol="0" anchor="ctr"/>
          <a:lstStyle/>
          <a:p>
            <a:pPr indent="0" marL="0">
              <a:buNone/>
            </a:pPr>
            <a:r>
              <a:rPr lang="en-US" sz="1100" i="1" dirty="0">
                <a:solidFill>
                  <a:srgbClr val="64748B"/>
                </a:solidFill>
              </a:rPr>
              <a:t>Audience Targeting (5 vars)</a:t>
            </a:r>
            <a:endParaRPr lang="en-US" sz="1100" dirty="0"/>
          </a:p>
        </p:txBody>
      </p:sp>
      <p:sp>
        <p:nvSpPr>
          <p:cNvPr id="11" name="Text 9"/>
          <p:cNvSpPr/>
          <p:nvPr/>
        </p:nvSpPr>
        <p:spPr>
          <a:xfrm>
            <a:off x="3657600" y="2240280"/>
            <a:ext cx="2194560" cy="2103120"/>
          </a:xfrm>
          <a:prstGeom prst="rect">
            <a:avLst/>
          </a:prstGeom>
          <a:noFill/>
          <a:ln/>
        </p:spPr>
        <p:txBody>
          <a:bodyPr wrap="square" rtlCol="0" anchor="ctr"/>
          <a:lstStyle/>
          <a:p>
            <a:pPr marL="342900" indent="-342900">
              <a:buSzPct val="100000"/>
              <a:buChar char="•"/>
            </a:pPr>
            <a:r>
              <a:rPr lang="en-US" sz="1100" dirty="0">
                <a:solidFill>
                  <a:srgbClr val="1E1E1E"/>
                </a:solidFill>
              </a:rPr>
              <a:t>EP_AGE65 - Seniors</a:t>
            </a:r>
            <a:endParaRPr lang="en-US" sz="1100" dirty="0"/>
          </a:p>
          <a:p>
            <a:pPr marL="342900" indent="-342900">
              <a:buSzPct val="100000"/>
              <a:buChar char="•"/>
            </a:pPr>
            <a:r>
              <a:rPr lang="en-US" sz="1100" dirty="0">
                <a:solidFill>
                  <a:srgbClr val="1E1E1E"/>
                </a:solidFill>
              </a:rPr>
              <a:t>EP_AGE17 - Pediatric</a:t>
            </a:r>
            <a:endParaRPr lang="en-US" sz="1100" dirty="0"/>
          </a:p>
          <a:p>
            <a:pPr marL="342900" indent="-342900">
              <a:buSzPct val="100000"/>
              <a:buChar char="•"/>
            </a:pPr>
            <a:r>
              <a:rPr lang="en-US" sz="1100" dirty="0">
                <a:solidFill>
                  <a:srgbClr val="1E1E1E"/>
                </a:solidFill>
              </a:rPr>
              <a:t>EP_MINRTY - Minority pop</a:t>
            </a:r>
            <a:endParaRPr lang="en-US" sz="1100" dirty="0"/>
          </a:p>
          <a:p>
            <a:pPr marL="342900" indent="-342900">
              <a:buSzPct val="100000"/>
              <a:buChar char="•"/>
            </a:pPr>
            <a:r>
              <a:rPr lang="en-US" sz="1100" dirty="0">
                <a:solidFill>
                  <a:srgbClr val="1E1E1E"/>
                </a:solidFill>
              </a:rPr>
              <a:t>EP_DISABL - With disability</a:t>
            </a:r>
            <a:endParaRPr lang="en-US" sz="1100" dirty="0"/>
          </a:p>
          <a:p>
            <a:pPr marL="342900" indent="-342900">
              <a:buSzPct val="100000"/>
              <a:buChar char="•"/>
            </a:pPr>
            <a:r>
              <a:rPr lang="en-US" sz="1100" dirty="0">
                <a:solidFill>
                  <a:srgbClr val="1E1E1E"/>
                </a:solidFill>
              </a:rPr>
              <a:t>EP_SNGPNT - Single parents</a:t>
            </a:r>
            <a:endParaRPr lang="en-US" sz="1100" dirty="0"/>
          </a:p>
        </p:txBody>
      </p:sp>
      <p:sp>
        <p:nvSpPr>
          <p:cNvPr id="12" name="Shape 10"/>
          <p:cNvSpPr/>
          <p:nvPr/>
        </p:nvSpPr>
        <p:spPr>
          <a:xfrm>
            <a:off x="6309360" y="1371600"/>
            <a:ext cx="2743200" cy="3200400"/>
          </a:xfrm>
          <a:prstGeom prst="rect">
            <a:avLst/>
          </a:prstGeom>
          <a:solidFill>
            <a:srgbClr val="BED6DB"/>
          </a:solidFill>
          <a:ln/>
        </p:spPr>
      </p:sp>
      <p:sp>
        <p:nvSpPr>
          <p:cNvPr id="13" name="Text 11"/>
          <p:cNvSpPr/>
          <p:nvPr/>
        </p:nvSpPr>
        <p:spPr>
          <a:xfrm>
            <a:off x="6492240" y="1554480"/>
            <a:ext cx="2377440" cy="274320"/>
          </a:xfrm>
          <a:prstGeom prst="rect">
            <a:avLst/>
          </a:prstGeom>
          <a:noFill/>
          <a:ln/>
        </p:spPr>
        <p:txBody>
          <a:bodyPr wrap="square" rtlCol="0" anchor="ctr"/>
          <a:lstStyle/>
          <a:p>
            <a:pPr indent="0" marL="0">
              <a:buNone/>
            </a:pPr>
            <a:r>
              <a:rPr lang="en-US" sz="1600" b="1" dirty="0">
                <a:solidFill>
                  <a:srgbClr val="0094D7"/>
                </a:solidFill>
              </a:rPr>
              <a:t>Barriers &amp; Poverty</a:t>
            </a:r>
            <a:endParaRPr lang="en-US" sz="1600" dirty="0"/>
          </a:p>
        </p:txBody>
      </p:sp>
      <p:sp>
        <p:nvSpPr>
          <p:cNvPr id="14" name="Text 12"/>
          <p:cNvSpPr/>
          <p:nvPr/>
        </p:nvSpPr>
        <p:spPr>
          <a:xfrm>
            <a:off x="6492240" y="1874520"/>
            <a:ext cx="2377440" cy="228600"/>
          </a:xfrm>
          <a:prstGeom prst="rect">
            <a:avLst/>
          </a:prstGeom>
          <a:noFill/>
          <a:ln/>
        </p:spPr>
        <p:txBody>
          <a:bodyPr wrap="square" rtlCol="0" anchor="ctr"/>
          <a:lstStyle/>
          <a:p>
            <a:pPr indent="0" marL="0">
              <a:buNone/>
            </a:pPr>
            <a:r>
              <a:rPr lang="en-US" sz="1100" i="1" dirty="0">
                <a:solidFill>
                  <a:srgbClr val="64748B"/>
                </a:solidFill>
              </a:rPr>
              <a:t>Intervention Design (5-7 vars)</a:t>
            </a:r>
            <a:endParaRPr lang="en-US" sz="1100" dirty="0"/>
          </a:p>
        </p:txBody>
      </p:sp>
      <p:sp>
        <p:nvSpPr>
          <p:cNvPr id="15" name="Text 13"/>
          <p:cNvSpPr/>
          <p:nvPr/>
        </p:nvSpPr>
        <p:spPr>
          <a:xfrm>
            <a:off x="6583680" y="2240280"/>
            <a:ext cx="2194560" cy="2103120"/>
          </a:xfrm>
          <a:prstGeom prst="rect">
            <a:avLst/>
          </a:prstGeom>
          <a:noFill/>
          <a:ln/>
        </p:spPr>
        <p:txBody>
          <a:bodyPr wrap="square" rtlCol="0" anchor="ctr"/>
          <a:lstStyle/>
          <a:p>
            <a:pPr marL="342900" indent="-342900">
              <a:buSzPct val="100000"/>
              <a:buChar char="•"/>
            </a:pPr>
            <a:r>
              <a:rPr lang="en-US" sz="1100" dirty="0">
                <a:solidFill>
                  <a:srgbClr val="1E1E1E"/>
                </a:solidFill>
              </a:rPr>
              <a:t>EP_POV150 - Below 150% poverty</a:t>
            </a:r>
            <a:endParaRPr lang="en-US" sz="1100" dirty="0"/>
          </a:p>
          <a:p>
            <a:pPr marL="342900" indent="-342900">
              <a:buSzPct val="100000"/>
              <a:buChar char="•"/>
            </a:pPr>
            <a:r>
              <a:rPr lang="en-US" sz="1100" dirty="0">
                <a:solidFill>
                  <a:srgbClr val="1E1E1E"/>
                </a:solidFill>
              </a:rPr>
              <a:t>EP_UNINSUR - Uninsured</a:t>
            </a:r>
            <a:endParaRPr lang="en-US" sz="1100" dirty="0"/>
          </a:p>
          <a:p>
            <a:pPr marL="342900" indent="-342900">
              <a:buSzPct val="100000"/>
              <a:buChar char="•"/>
            </a:pPr>
            <a:r>
              <a:rPr lang="en-US" sz="1100" dirty="0">
                <a:solidFill>
                  <a:srgbClr val="1E1E1E"/>
                </a:solidFill>
              </a:rPr>
              <a:t>EP_LIMENG - Limited English</a:t>
            </a:r>
            <a:endParaRPr lang="en-US" sz="1100" dirty="0"/>
          </a:p>
          <a:p>
            <a:pPr marL="342900" indent="-342900">
              <a:buSzPct val="100000"/>
              <a:buChar char="•"/>
            </a:pPr>
            <a:r>
              <a:rPr lang="en-US" sz="1100" dirty="0">
                <a:solidFill>
                  <a:srgbClr val="1E1E1E"/>
                </a:solidFill>
              </a:rPr>
              <a:t>EP_NOVEH - No vehicle</a:t>
            </a:r>
            <a:endParaRPr lang="en-US" sz="1100" dirty="0"/>
          </a:p>
          <a:p>
            <a:pPr marL="342900" indent="-342900">
              <a:buSzPct val="100000"/>
              <a:buChar char="•"/>
            </a:pPr>
            <a:r>
              <a:rPr lang="en-US" sz="1100" dirty="0">
                <a:solidFill>
                  <a:srgbClr val="1E1E1E"/>
                </a:solidFill>
              </a:rPr>
              <a:t>EP_HBURD - Housing burden*</a:t>
            </a:r>
            <a:endParaRPr lang="en-US" sz="1100" dirty="0"/>
          </a:p>
          <a:p>
            <a:pPr marL="342900" indent="-342900">
              <a:buSzPct val="100000"/>
              <a:buChar char="•"/>
            </a:pPr>
            <a:r>
              <a:rPr lang="en-US" sz="1100" dirty="0">
                <a:solidFill>
                  <a:srgbClr val="1E1E1E"/>
                </a:solidFill>
              </a:rPr>
              <a:t>EP_NOHSDP - No HS diploma*</a:t>
            </a:r>
            <a:endParaRPr lang="en-US" sz="1100" dirty="0"/>
          </a:p>
        </p:txBody>
      </p:sp>
      <p:sp>
        <p:nvSpPr>
          <p:cNvPr id="16" name="Text 14"/>
          <p:cNvSpPr/>
          <p:nvPr/>
        </p:nvSpPr>
        <p:spPr>
          <a:xfrm>
            <a:off x="457200" y="4754880"/>
            <a:ext cx="8229600" cy="182880"/>
          </a:xfrm>
          <a:prstGeom prst="rect">
            <a:avLst/>
          </a:prstGeom>
          <a:noFill/>
          <a:ln/>
        </p:spPr>
        <p:txBody>
          <a:bodyPr wrap="square" rtlCol="0" anchor="ctr"/>
          <a:lstStyle/>
          <a:p>
            <a:pPr indent="0" marL="0">
              <a:buNone/>
            </a:pPr>
            <a:r>
              <a:rPr lang="en-US" sz="1000" i="1" dirty="0">
                <a:solidFill>
                  <a:srgbClr val="64748B"/>
                </a:solidFill>
              </a:rPr>
              <a:t>* Optional variables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ED6D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600" b="1" dirty="0">
                <a:solidFill>
                  <a:srgbClr val="003359"/>
                </a:solidFill>
              </a:rPr>
              <a:t>Use Case: Priority-Based Resource Allocation</a:t>
            </a:r>
            <a:endParaRPr lang="en-US" sz="3600" dirty="0"/>
          </a:p>
        </p:txBody>
      </p:sp>
      <p:sp>
        <p:nvSpPr>
          <p:cNvPr id="3" name="Text 1"/>
          <p:cNvSpPr/>
          <p:nvPr/>
        </p:nvSpPr>
        <p:spPr>
          <a:xfrm>
            <a:off x="457200" y="868680"/>
            <a:ext cx="8229600" cy="228600"/>
          </a:xfrm>
          <a:prstGeom prst="rect">
            <a:avLst/>
          </a:prstGeom>
          <a:noFill/>
          <a:ln/>
        </p:spPr>
        <p:txBody>
          <a:bodyPr wrap="square" rtlCol="0" anchor="ctr"/>
          <a:lstStyle/>
          <a:p>
            <a:pPr indent="0" marL="0">
              <a:buNone/>
            </a:pPr>
            <a:r>
              <a:rPr lang="en-US" sz="1400" i="1" dirty="0">
                <a:solidFill>
                  <a:srgbClr val="64748B"/>
                </a:solidFill>
              </a:rPr>
              <a:t>Using RPL theme rankings only for strategic deployment</a:t>
            </a:r>
            <a:endParaRPr lang="en-US" sz="1400" dirty="0"/>
          </a:p>
        </p:txBody>
      </p:sp>
      <p:sp>
        <p:nvSpPr>
          <p:cNvPr id="4" name="Shape 2"/>
          <p:cNvSpPr/>
          <p:nvPr/>
        </p:nvSpPr>
        <p:spPr>
          <a:xfrm>
            <a:off x="457200" y="1280160"/>
            <a:ext cx="4114800" cy="3474720"/>
          </a:xfrm>
          <a:prstGeom prst="rect">
            <a:avLst/>
          </a:prstGeom>
          <a:solidFill>
            <a:srgbClr val="FFFFFF"/>
          </a:solidFill>
          <a:ln/>
        </p:spPr>
      </p:sp>
      <p:sp>
        <p:nvSpPr>
          <p:cNvPr id="5" name="Text 3"/>
          <p:cNvSpPr/>
          <p:nvPr/>
        </p:nvSpPr>
        <p:spPr>
          <a:xfrm>
            <a:off x="640080" y="1463040"/>
            <a:ext cx="3749040" cy="320040"/>
          </a:xfrm>
          <a:prstGeom prst="rect">
            <a:avLst/>
          </a:prstGeom>
          <a:noFill/>
          <a:ln/>
        </p:spPr>
        <p:txBody>
          <a:bodyPr wrap="square" rtlCol="0" anchor="ctr"/>
          <a:lstStyle/>
          <a:p>
            <a:pPr indent="0" marL="0">
              <a:buNone/>
            </a:pPr>
            <a:r>
              <a:rPr lang="en-US" sz="1800" b="1" dirty="0">
                <a:solidFill>
                  <a:srgbClr val="0094D7"/>
                </a:solidFill>
              </a:rPr>
              <a:t>Scenario: Limited CHW Budget</a:t>
            </a:r>
            <a:endParaRPr lang="en-US" sz="1800" dirty="0"/>
          </a:p>
        </p:txBody>
      </p:sp>
      <p:sp>
        <p:nvSpPr>
          <p:cNvPr id="6" name="Text 4"/>
          <p:cNvSpPr/>
          <p:nvPr/>
        </p:nvSpPr>
        <p:spPr>
          <a:xfrm>
            <a:off x="640080" y="1920240"/>
            <a:ext cx="3749040" cy="548640"/>
          </a:xfrm>
          <a:prstGeom prst="rect">
            <a:avLst/>
          </a:prstGeom>
          <a:noFill/>
          <a:ln/>
        </p:spPr>
        <p:txBody>
          <a:bodyPr wrap="square" rtlCol="0" anchor="ctr"/>
          <a:lstStyle/>
          <a:p>
            <a:pPr indent="0" marL="0">
              <a:buNone/>
            </a:pPr>
            <a:r>
              <a:rPr lang="en-US" sz="1300" dirty="0">
                <a:solidFill>
                  <a:srgbClr val="1E1E1E"/>
                </a:solidFill>
              </a:rPr>
              <a:t>Challenge: Only 5 community health workers available for entire service area covering 50 ZIP codes.</a:t>
            </a:r>
            <a:endParaRPr lang="en-US" sz="1300" dirty="0"/>
          </a:p>
        </p:txBody>
      </p:sp>
      <p:sp>
        <p:nvSpPr>
          <p:cNvPr id="7" name="Text 5"/>
          <p:cNvSpPr/>
          <p:nvPr/>
        </p:nvSpPr>
        <p:spPr>
          <a:xfrm>
            <a:off x="640080" y="2651760"/>
            <a:ext cx="3749040" cy="274320"/>
          </a:xfrm>
          <a:prstGeom prst="rect">
            <a:avLst/>
          </a:prstGeom>
          <a:noFill/>
          <a:ln/>
        </p:spPr>
        <p:txBody>
          <a:bodyPr wrap="square" rtlCol="0" anchor="ctr"/>
          <a:lstStyle/>
          <a:p>
            <a:pPr indent="0" marL="0">
              <a:buNone/>
            </a:pPr>
            <a:r>
              <a:rPr lang="en-US" sz="1400" b="1" dirty="0">
                <a:solidFill>
                  <a:srgbClr val="003359"/>
                </a:solidFill>
              </a:rPr>
              <a:t>Solution Using Only RPL Variables:</a:t>
            </a:r>
            <a:endParaRPr lang="en-US" sz="1400" dirty="0"/>
          </a:p>
        </p:txBody>
      </p:sp>
      <p:sp>
        <p:nvSpPr>
          <p:cNvPr id="8" name="Text 6"/>
          <p:cNvSpPr/>
          <p:nvPr/>
        </p:nvSpPr>
        <p:spPr>
          <a:xfrm>
            <a:off x="640080" y="3017520"/>
            <a:ext cx="3749040" cy="1554480"/>
          </a:xfrm>
          <a:prstGeom prst="rect">
            <a:avLst/>
          </a:prstGeom>
          <a:noFill/>
          <a:ln/>
        </p:spPr>
        <p:txBody>
          <a:bodyPr wrap="square" rtlCol="0" anchor="ctr"/>
          <a:lstStyle/>
          <a:p>
            <a:pPr marL="342900" indent="-342900">
              <a:buSzPct val="100000"/>
              <a:buChar char="•"/>
            </a:pPr>
            <a:r>
              <a:rPr lang="en-US" sz="1200" dirty="0">
                <a:solidFill>
                  <a:srgbClr val="1E1E1E"/>
                </a:solidFill>
              </a:rPr>
              <a:t>Step 1: Filter ZIPs by RPL_THEMES ≥ 0.90 (top 10% vulnerability)</a:t>
            </a:r>
            <a:endParaRPr lang="en-US" sz="1200" dirty="0"/>
          </a:p>
          <a:p>
            <a:pPr marL="342900" indent="-342900">
              <a:buSzPct val="100000"/>
              <a:buChar char="•"/>
            </a:pPr>
            <a:r>
              <a:rPr lang="en-US" sz="1200" dirty="0">
                <a:solidFill>
                  <a:srgbClr val="1E1E1E"/>
                </a:solidFill>
              </a:rPr>
              <a:t>Step 2: Within those, prioritize by RPL_THEME1 (socioeconomic barriers)</a:t>
            </a:r>
            <a:endParaRPr lang="en-US" sz="1200" dirty="0"/>
          </a:p>
          <a:p>
            <a:pPr marL="342900" indent="-342900">
              <a:buSzPct val="100000"/>
              <a:buChar char="•"/>
            </a:pPr>
            <a:r>
              <a:rPr lang="en-US" sz="1200" dirty="0">
                <a:solidFill>
                  <a:srgbClr val="1E1E1E"/>
                </a:solidFill>
              </a:rPr>
              <a:t>Step 3: Deploy all 5 CHWs to highest-scoring ZIPs</a:t>
            </a:r>
            <a:endParaRPr lang="en-US" sz="1200" dirty="0"/>
          </a:p>
          <a:p>
            <a:pPr marL="342900" indent="-342900">
              <a:buSzPct val="100000"/>
              <a:buChar char="•"/>
            </a:pPr>
            <a:r>
              <a:rPr lang="en-US" sz="1200" dirty="0">
                <a:solidFill>
                  <a:srgbClr val="1E1E1E"/>
                </a:solidFill>
              </a:rPr>
              <a:t>Result: Resources concentrated where composite vulnerability is highest</a:t>
            </a:r>
            <a:endParaRPr lang="en-US" sz="1200" dirty="0"/>
          </a:p>
        </p:txBody>
      </p:sp>
      <p:sp>
        <p:nvSpPr>
          <p:cNvPr id="9" name="Shape 7"/>
          <p:cNvSpPr/>
          <p:nvPr/>
        </p:nvSpPr>
        <p:spPr>
          <a:xfrm>
            <a:off x="4846320" y="1280160"/>
            <a:ext cx="3840480" cy="3474720"/>
          </a:xfrm>
          <a:prstGeom prst="rect">
            <a:avLst/>
          </a:prstGeom>
          <a:solidFill>
            <a:srgbClr val="FFFFFF"/>
          </a:solidFill>
          <a:ln/>
        </p:spPr>
      </p:sp>
      <p:sp>
        <p:nvSpPr>
          <p:cNvPr id="10" name="Text 8"/>
          <p:cNvSpPr/>
          <p:nvPr/>
        </p:nvSpPr>
        <p:spPr>
          <a:xfrm>
            <a:off x="5029200" y="1463040"/>
            <a:ext cx="3474720" cy="320040"/>
          </a:xfrm>
          <a:prstGeom prst="rect">
            <a:avLst/>
          </a:prstGeom>
          <a:noFill/>
          <a:ln/>
        </p:spPr>
        <p:txBody>
          <a:bodyPr wrap="square" rtlCol="0" anchor="ctr"/>
          <a:lstStyle/>
          <a:p>
            <a:pPr indent="0" marL="0">
              <a:buNone/>
            </a:pPr>
            <a:r>
              <a:rPr lang="en-US" sz="1800" b="1" dirty="0">
                <a:solidFill>
                  <a:srgbClr val="0094D7"/>
                </a:solidFill>
              </a:rPr>
              <a:t>Decision Workflow</a:t>
            </a:r>
            <a:endParaRPr lang="en-US" sz="1800" dirty="0"/>
          </a:p>
        </p:txBody>
      </p:sp>
      <p:sp>
        <p:nvSpPr>
          <p:cNvPr id="11" name="Shape 9"/>
          <p:cNvSpPr/>
          <p:nvPr/>
        </p:nvSpPr>
        <p:spPr>
          <a:xfrm>
            <a:off x="5029200" y="2011680"/>
            <a:ext cx="274320" cy="274320"/>
          </a:xfrm>
          <a:prstGeom prst="ellipse">
            <a:avLst/>
          </a:prstGeom>
          <a:solidFill>
            <a:srgbClr val="8FCAE7"/>
          </a:solidFill>
          <a:ln/>
        </p:spPr>
      </p:sp>
      <p:sp>
        <p:nvSpPr>
          <p:cNvPr id="12" name="Text 10"/>
          <p:cNvSpPr/>
          <p:nvPr/>
        </p:nvSpPr>
        <p:spPr>
          <a:xfrm>
            <a:off x="5029200" y="2011680"/>
            <a:ext cx="274320" cy="27432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13" name="Text 11"/>
          <p:cNvSpPr/>
          <p:nvPr/>
        </p:nvSpPr>
        <p:spPr>
          <a:xfrm>
            <a:off x="5394960" y="1965960"/>
            <a:ext cx="3108960" cy="201168"/>
          </a:xfrm>
          <a:prstGeom prst="rect">
            <a:avLst/>
          </a:prstGeom>
          <a:noFill/>
          <a:ln/>
        </p:spPr>
        <p:txBody>
          <a:bodyPr wrap="square" rtlCol="0" anchor="ctr"/>
          <a:lstStyle/>
          <a:p>
            <a:pPr indent="0" marL="0">
              <a:buNone/>
            </a:pPr>
            <a:r>
              <a:rPr lang="en-US" sz="1100" b="1" dirty="0">
                <a:solidFill>
                  <a:srgbClr val="1E1E1E"/>
                </a:solidFill>
              </a:rPr>
              <a:t>Pull RPL_THEMES for all ZIPs</a:t>
            </a:r>
            <a:endParaRPr lang="en-US" sz="1100" dirty="0"/>
          </a:p>
        </p:txBody>
      </p:sp>
      <p:sp>
        <p:nvSpPr>
          <p:cNvPr id="14" name="Text 12"/>
          <p:cNvSpPr/>
          <p:nvPr/>
        </p:nvSpPr>
        <p:spPr>
          <a:xfrm>
            <a:off x="5394960" y="2176272"/>
            <a:ext cx="3108960" cy="164592"/>
          </a:xfrm>
          <a:prstGeom prst="rect">
            <a:avLst/>
          </a:prstGeom>
          <a:noFill/>
          <a:ln/>
        </p:spPr>
        <p:txBody>
          <a:bodyPr wrap="square" rtlCol="0" anchor="ctr"/>
          <a:lstStyle/>
          <a:p>
            <a:pPr indent="0" marL="0">
              <a:buNone/>
            </a:pPr>
            <a:r>
              <a:rPr lang="en-US" sz="1000" i="1" dirty="0">
                <a:solidFill>
                  <a:srgbClr val="64748B"/>
                </a:solidFill>
              </a:rPr>
              <a:t>50 ZIPs analyzed</a:t>
            </a:r>
            <a:endParaRPr lang="en-US" sz="1000" dirty="0"/>
          </a:p>
        </p:txBody>
      </p:sp>
      <p:sp>
        <p:nvSpPr>
          <p:cNvPr id="15" name="Shape 13"/>
          <p:cNvSpPr/>
          <p:nvPr/>
        </p:nvSpPr>
        <p:spPr>
          <a:xfrm>
            <a:off x="5029200" y="2697480"/>
            <a:ext cx="274320" cy="274320"/>
          </a:xfrm>
          <a:prstGeom prst="ellipse">
            <a:avLst/>
          </a:prstGeom>
          <a:solidFill>
            <a:srgbClr val="8FCAE7"/>
          </a:solidFill>
          <a:ln/>
        </p:spPr>
      </p:sp>
      <p:sp>
        <p:nvSpPr>
          <p:cNvPr id="16" name="Text 14"/>
          <p:cNvSpPr/>
          <p:nvPr/>
        </p:nvSpPr>
        <p:spPr>
          <a:xfrm>
            <a:off x="5029200" y="2697480"/>
            <a:ext cx="274320" cy="27432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7" name="Text 15"/>
          <p:cNvSpPr/>
          <p:nvPr/>
        </p:nvSpPr>
        <p:spPr>
          <a:xfrm>
            <a:off x="5394960" y="2651760"/>
            <a:ext cx="3108960" cy="201168"/>
          </a:xfrm>
          <a:prstGeom prst="rect">
            <a:avLst/>
          </a:prstGeom>
          <a:noFill/>
          <a:ln/>
        </p:spPr>
        <p:txBody>
          <a:bodyPr wrap="square" rtlCol="0" anchor="ctr"/>
          <a:lstStyle/>
          <a:p>
            <a:pPr indent="0" marL="0">
              <a:buNone/>
            </a:pPr>
            <a:r>
              <a:rPr lang="en-US" sz="1100" b="1" dirty="0">
                <a:solidFill>
                  <a:srgbClr val="1E1E1E"/>
                </a:solidFill>
              </a:rPr>
              <a:t>Filter: RPL_THEMES ≥ 0.90</a:t>
            </a:r>
            <a:endParaRPr lang="en-US" sz="1100" dirty="0"/>
          </a:p>
        </p:txBody>
      </p:sp>
      <p:sp>
        <p:nvSpPr>
          <p:cNvPr id="18" name="Text 16"/>
          <p:cNvSpPr/>
          <p:nvPr/>
        </p:nvSpPr>
        <p:spPr>
          <a:xfrm>
            <a:off x="5394960" y="2862072"/>
            <a:ext cx="3108960" cy="164592"/>
          </a:xfrm>
          <a:prstGeom prst="rect">
            <a:avLst/>
          </a:prstGeom>
          <a:noFill/>
          <a:ln/>
        </p:spPr>
        <p:txBody>
          <a:bodyPr wrap="square" rtlCol="0" anchor="ctr"/>
          <a:lstStyle/>
          <a:p>
            <a:pPr indent="0" marL="0">
              <a:buNone/>
            </a:pPr>
            <a:r>
              <a:rPr lang="en-US" sz="1000" i="1" dirty="0">
                <a:solidFill>
                  <a:srgbClr val="64748B"/>
                </a:solidFill>
              </a:rPr>
              <a:t>Narrows to 8 ZIPs</a:t>
            </a:r>
            <a:endParaRPr lang="en-US" sz="1000" dirty="0"/>
          </a:p>
        </p:txBody>
      </p:sp>
      <p:sp>
        <p:nvSpPr>
          <p:cNvPr id="19" name="Shape 17"/>
          <p:cNvSpPr/>
          <p:nvPr/>
        </p:nvSpPr>
        <p:spPr>
          <a:xfrm>
            <a:off x="5029200" y="3383280"/>
            <a:ext cx="274320" cy="274320"/>
          </a:xfrm>
          <a:prstGeom prst="ellipse">
            <a:avLst/>
          </a:prstGeom>
          <a:solidFill>
            <a:srgbClr val="8FCAE7"/>
          </a:solidFill>
          <a:ln/>
        </p:spPr>
      </p:sp>
      <p:sp>
        <p:nvSpPr>
          <p:cNvPr id="20" name="Text 18"/>
          <p:cNvSpPr/>
          <p:nvPr/>
        </p:nvSpPr>
        <p:spPr>
          <a:xfrm>
            <a:off x="5029200" y="3383280"/>
            <a:ext cx="274320" cy="27432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5394960" y="3337560"/>
            <a:ext cx="3108960" cy="201168"/>
          </a:xfrm>
          <a:prstGeom prst="rect">
            <a:avLst/>
          </a:prstGeom>
          <a:noFill/>
          <a:ln/>
        </p:spPr>
        <p:txBody>
          <a:bodyPr wrap="square" rtlCol="0" anchor="ctr"/>
          <a:lstStyle/>
          <a:p>
            <a:pPr indent="0" marL="0">
              <a:buNone/>
            </a:pPr>
            <a:r>
              <a:rPr lang="en-US" sz="1100" b="1" dirty="0">
                <a:solidFill>
                  <a:srgbClr val="1E1E1E"/>
                </a:solidFill>
              </a:rPr>
              <a:t>Sort by RPL_THEME1 (descending)</a:t>
            </a:r>
            <a:endParaRPr lang="en-US" sz="1100" dirty="0"/>
          </a:p>
        </p:txBody>
      </p:sp>
      <p:sp>
        <p:nvSpPr>
          <p:cNvPr id="22" name="Text 20"/>
          <p:cNvSpPr/>
          <p:nvPr/>
        </p:nvSpPr>
        <p:spPr>
          <a:xfrm>
            <a:off x="5394960" y="3547872"/>
            <a:ext cx="3108960" cy="164592"/>
          </a:xfrm>
          <a:prstGeom prst="rect">
            <a:avLst/>
          </a:prstGeom>
          <a:noFill/>
          <a:ln/>
        </p:spPr>
        <p:txBody>
          <a:bodyPr wrap="square" rtlCol="0" anchor="ctr"/>
          <a:lstStyle/>
          <a:p>
            <a:pPr indent="0" marL="0">
              <a:buNone/>
            </a:pPr>
            <a:r>
              <a:rPr lang="en-US" sz="1000" i="1" dirty="0">
                <a:solidFill>
                  <a:srgbClr val="64748B"/>
                </a:solidFill>
              </a:rPr>
              <a:t>Ranked by need</a:t>
            </a:r>
            <a:endParaRPr lang="en-US" sz="1000" dirty="0"/>
          </a:p>
        </p:txBody>
      </p:sp>
      <p:sp>
        <p:nvSpPr>
          <p:cNvPr id="23" name="Shape 21"/>
          <p:cNvSpPr/>
          <p:nvPr/>
        </p:nvSpPr>
        <p:spPr>
          <a:xfrm>
            <a:off x="5029200" y="4069080"/>
            <a:ext cx="274320" cy="274320"/>
          </a:xfrm>
          <a:prstGeom prst="ellipse">
            <a:avLst/>
          </a:prstGeom>
          <a:solidFill>
            <a:srgbClr val="8FCAE7"/>
          </a:solidFill>
          <a:ln/>
        </p:spPr>
      </p:sp>
      <p:sp>
        <p:nvSpPr>
          <p:cNvPr id="24" name="Text 22"/>
          <p:cNvSpPr/>
          <p:nvPr/>
        </p:nvSpPr>
        <p:spPr>
          <a:xfrm>
            <a:off x="5029200" y="4069080"/>
            <a:ext cx="274320" cy="27432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25" name="Text 23"/>
          <p:cNvSpPr/>
          <p:nvPr/>
        </p:nvSpPr>
        <p:spPr>
          <a:xfrm>
            <a:off x="5394960" y="4023360"/>
            <a:ext cx="3108960" cy="201168"/>
          </a:xfrm>
          <a:prstGeom prst="rect">
            <a:avLst/>
          </a:prstGeom>
          <a:noFill/>
          <a:ln/>
        </p:spPr>
        <p:txBody>
          <a:bodyPr wrap="square" rtlCol="0" anchor="ctr"/>
          <a:lstStyle/>
          <a:p>
            <a:pPr indent="0" marL="0">
              <a:buNone/>
            </a:pPr>
            <a:r>
              <a:rPr lang="en-US" sz="1100" b="1" dirty="0">
                <a:solidFill>
                  <a:srgbClr val="1E1E1E"/>
                </a:solidFill>
              </a:rPr>
              <a:t>Select top 5 ZIPs</a:t>
            </a:r>
            <a:endParaRPr lang="en-US" sz="1100" dirty="0"/>
          </a:p>
        </p:txBody>
      </p:sp>
      <p:sp>
        <p:nvSpPr>
          <p:cNvPr id="26" name="Text 24"/>
          <p:cNvSpPr/>
          <p:nvPr/>
        </p:nvSpPr>
        <p:spPr>
          <a:xfrm>
            <a:off x="5394960" y="4233672"/>
            <a:ext cx="3108960" cy="164592"/>
          </a:xfrm>
          <a:prstGeom prst="rect">
            <a:avLst/>
          </a:prstGeom>
          <a:noFill/>
          <a:ln/>
        </p:spPr>
        <p:txBody>
          <a:bodyPr wrap="square" rtlCol="0" anchor="ctr"/>
          <a:lstStyle/>
          <a:p>
            <a:pPr indent="0" marL="0">
              <a:buNone/>
            </a:pPr>
            <a:r>
              <a:rPr lang="en-US" sz="1000" i="1" dirty="0">
                <a:solidFill>
                  <a:srgbClr val="64748B"/>
                </a:solidFill>
              </a:rPr>
              <a:t>CHW deployment targets</a:t>
            </a:r>
            <a:endParaRPr lang="en-US" sz="1000" dirty="0"/>
          </a:p>
        </p:txBody>
      </p:sp>
      <p:sp>
        <p:nvSpPr>
          <p:cNvPr id="27" name="Text 25"/>
          <p:cNvSpPr/>
          <p:nvPr/>
        </p:nvSpPr>
        <p:spPr>
          <a:xfrm>
            <a:off x="4846320" y="4572000"/>
            <a:ext cx="3840480" cy="182880"/>
          </a:xfrm>
          <a:prstGeom prst="rect">
            <a:avLst/>
          </a:prstGeom>
          <a:noFill/>
          <a:ln/>
        </p:spPr>
        <p:txBody>
          <a:bodyPr wrap="square" rtlCol="0" anchor="ctr"/>
          <a:lstStyle/>
          <a:p>
            <a:pPr indent="0" marL="0">
              <a:buNone/>
            </a:pPr>
            <a:r>
              <a:rPr lang="en-US" sz="1100" b="1" i="1" dirty="0">
                <a:solidFill>
                  <a:srgbClr val="0094D7"/>
                </a:solidFill>
              </a:rPr>
              <a:t>Advantage: No demographic data needed—pure vulnerability ranking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600" b="1" dirty="0">
                <a:solidFill>
                  <a:srgbClr val="003359"/>
                </a:solidFill>
              </a:rPr>
              <a:t>Use Case: Mammography Outreach Campaign</a:t>
            </a:r>
            <a:endParaRPr lang="en-US" sz="3600" dirty="0"/>
          </a:p>
        </p:txBody>
      </p:sp>
      <p:sp>
        <p:nvSpPr>
          <p:cNvPr id="3" name="Text 1"/>
          <p:cNvSpPr/>
          <p:nvPr/>
        </p:nvSpPr>
        <p:spPr>
          <a:xfrm>
            <a:off x="457200" y="868680"/>
            <a:ext cx="8229600" cy="228600"/>
          </a:xfrm>
          <a:prstGeom prst="rect">
            <a:avLst/>
          </a:prstGeom>
          <a:noFill/>
          <a:ln/>
        </p:spPr>
        <p:txBody>
          <a:bodyPr wrap="square" rtlCol="0" anchor="ctr"/>
          <a:lstStyle/>
          <a:p>
            <a:pPr indent="0" marL="0">
              <a:buNone/>
            </a:pPr>
            <a:r>
              <a:rPr lang="en-US" sz="1400" i="1" dirty="0">
                <a:solidFill>
                  <a:srgbClr val="64748B"/>
                </a:solidFill>
              </a:rPr>
              <a:t>Combining themes, demographics, and barriers for targeted intervention</a:t>
            </a:r>
            <a:endParaRPr lang="en-US" sz="1400" dirty="0"/>
          </a:p>
        </p:txBody>
      </p:sp>
      <p:sp>
        <p:nvSpPr>
          <p:cNvPr id="4" name="Shape 2"/>
          <p:cNvSpPr/>
          <p:nvPr/>
        </p:nvSpPr>
        <p:spPr>
          <a:xfrm>
            <a:off x="457200" y="1280160"/>
            <a:ext cx="8229600" cy="3474720"/>
          </a:xfrm>
          <a:prstGeom prst="rect">
            <a:avLst/>
          </a:prstGeom>
          <a:solidFill>
            <a:srgbClr val="BED6DB"/>
          </a:solidFill>
          <a:ln/>
        </p:spPr>
      </p:sp>
      <p:sp>
        <p:nvSpPr>
          <p:cNvPr id="5" name="Text 3"/>
          <p:cNvSpPr/>
          <p:nvPr/>
        </p:nvSpPr>
        <p:spPr>
          <a:xfrm>
            <a:off x="640080" y="1463040"/>
            <a:ext cx="7863840" cy="320040"/>
          </a:xfrm>
          <a:prstGeom prst="rect">
            <a:avLst/>
          </a:prstGeom>
          <a:noFill/>
          <a:ln/>
        </p:spPr>
        <p:txBody>
          <a:bodyPr wrap="square" rtlCol="0" anchor="ctr"/>
          <a:lstStyle/>
          <a:p>
            <a:pPr indent="0" marL="0">
              <a:buNone/>
            </a:pPr>
            <a:r>
              <a:rPr lang="en-US" sz="2000" b="1" dirty="0">
                <a:solidFill>
                  <a:srgbClr val="0094D7"/>
                </a:solidFill>
              </a:rPr>
              <a:t>Campaign Workflow</a:t>
            </a:r>
            <a:endParaRPr lang="en-US" sz="2000" dirty="0"/>
          </a:p>
        </p:txBody>
      </p:sp>
      <p:sp>
        <p:nvSpPr>
          <p:cNvPr id="6" name="Shape 4"/>
          <p:cNvSpPr/>
          <p:nvPr/>
        </p:nvSpPr>
        <p:spPr>
          <a:xfrm>
            <a:off x="640080" y="2011680"/>
            <a:ext cx="2560320" cy="2560320"/>
          </a:xfrm>
          <a:prstGeom prst="rect">
            <a:avLst/>
          </a:prstGeom>
          <a:solidFill>
            <a:srgbClr val="FFFFFF"/>
          </a:solidFill>
          <a:ln/>
        </p:spPr>
      </p:sp>
      <p:sp>
        <p:nvSpPr>
          <p:cNvPr id="7" name="Text 5"/>
          <p:cNvSpPr/>
          <p:nvPr/>
        </p:nvSpPr>
        <p:spPr>
          <a:xfrm>
            <a:off x="822960" y="2194560"/>
            <a:ext cx="2194560" cy="548640"/>
          </a:xfrm>
          <a:prstGeom prst="rect">
            <a:avLst/>
          </a:prstGeom>
          <a:noFill/>
          <a:ln/>
        </p:spPr>
        <p:txBody>
          <a:bodyPr wrap="square" rtlCol="0" anchor="ctr"/>
          <a:lstStyle/>
          <a:p>
            <a:pPr algn="ctr" indent="0" marL="0">
              <a:buNone/>
            </a:pPr>
            <a:r>
              <a:rPr lang="en-US" sz="1600" b="1" dirty="0">
                <a:solidFill>
                  <a:srgbClr val="0094D7"/>
                </a:solidFill>
              </a:rPr>
              <a:t>Filter</a:t>
            </a:r>
            <a:endParaRPr lang="en-US" sz="1600" dirty="0"/>
          </a:p>
          <a:p>
            <a:pPr algn="ctr" indent="0" marL="0">
              <a:buNone/>
            </a:pPr>
            <a:r>
              <a:rPr lang="en-US" sz="1300" b="1" dirty="0">
                <a:solidFill>
                  <a:srgbClr val="1E1E1E"/>
                </a:solidFill>
              </a:rPr>
              <a:t>🎯 RPL_THEMES ≥ 0.75</a:t>
            </a:r>
            <a:endParaRPr lang="en-US" sz="1600" dirty="0"/>
          </a:p>
        </p:txBody>
      </p:sp>
      <p:sp>
        <p:nvSpPr>
          <p:cNvPr id="8" name="Text 6"/>
          <p:cNvSpPr/>
          <p:nvPr/>
        </p:nvSpPr>
        <p:spPr>
          <a:xfrm>
            <a:off x="822960" y="2926080"/>
            <a:ext cx="2194560" cy="548640"/>
          </a:xfrm>
          <a:prstGeom prst="rect">
            <a:avLst/>
          </a:prstGeom>
          <a:noFill/>
          <a:ln/>
        </p:spPr>
        <p:txBody>
          <a:bodyPr wrap="square" rtlCol="0" anchor="ctr"/>
          <a:lstStyle/>
          <a:p>
            <a:pPr algn="ctr" indent="0" marL="0">
              <a:buNone/>
            </a:pPr>
            <a:r>
              <a:rPr lang="en-US" sz="1100" dirty="0">
                <a:solidFill>
                  <a:srgbClr val="1E1E1E"/>
                </a:solidFill>
              </a:rPr>
              <a:t>Identify high-vulnerability areas (top 25%)</a:t>
            </a:r>
            <a:endParaRPr lang="en-US" sz="1100" dirty="0"/>
          </a:p>
        </p:txBody>
      </p:sp>
      <p:sp>
        <p:nvSpPr>
          <p:cNvPr id="9" name="Shape 7"/>
          <p:cNvSpPr/>
          <p:nvPr/>
        </p:nvSpPr>
        <p:spPr>
          <a:xfrm>
            <a:off x="640080" y="4114800"/>
            <a:ext cx="2560320" cy="365760"/>
          </a:xfrm>
          <a:prstGeom prst="rect">
            <a:avLst/>
          </a:prstGeom>
          <a:solidFill>
            <a:srgbClr val="0094D7"/>
          </a:solidFill>
          <a:ln/>
        </p:spPr>
      </p:sp>
      <p:sp>
        <p:nvSpPr>
          <p:cNvPr id="10" name="Text 8"/>
          <p:cNvSpPr/>
          <p:nvPr/>
        </p:nvSpPr>
        <p:spPr>
          <a:xfrm>
            <a:off x="731520" y="4160520"/>
            <a:ext cx="2377440" cy="274320"/>
          </a:xfrm>
          <a:prstGeom prst="rect">
            <a:avLst/>
          </a:prstGeom>
          <a:noFill/>
          <a:ln/>
        </p:spPr>
        <p:txBody>
          <a:bodyPr wrap="square" rtlCol="0" anchor="ctr"/>
          <a:lstStyle/>
          <a:p>
            <a:pPr algn="ctr" indent="0" marL="0">
              <a:buNone/>
            </a:pPr>
            <a:r>
              <a:rPr lang="en-US" sz="1100" b="1" dirty="0">
                <a:solidFill>
                  <a:srgbClr val="FFFFFF"/>
                </a:solidFill>
              </a:rPr>
              <a:t>Narrows from 200 to 50 ZIPs</a:t>
            </a:r>
            <a:endParaRPr lang="en-US" sz="1100" dirty="0"/>
          </a:p>
        </p:txBody>
      </p:sp>
      <p:sp>
        <p:nvSpPr>
          <p:cNvPr id="11" name="Shape 9"/>
          <p:cNvSpPr/>
          <p:nvPr/>
        </p:nvSpPr>
        <p:spPr>
          <a:xfrm>
            <a:off x="3383280" y="2011680"/>
            <a:ext cx="2560320" cy="2560320"/>
          </a:xfrm>
          <a:prstGeom prst="rect">
            <a:avLst/>
          </a:prstGeom>
          <a:solidFill>
            <a:srgbClr val="FFFFFF"/>
          </a:solidFill>
          <a:ln/>
        </p:spPr>
      </p:sp>
      <p:sp>
        <p:nvSpPr>
          <p:cNvPr id="12" name="Text 10"/>
          <p:cNvSpPr/>
          <p:nvPr/>
        </p:nvSpPr>
        <p:spPr>
          <a:xfrm>
            <a:off x="3566160" y="2194560"/>
            <a:ext cx="2194560" cy="548640"/>
          </a:xfrm>
          <a:prstGeom prst="rect">
            <a:avLst/>
          </a:prstGeom>
          <a:noFill/>
          <a:ln/>
        </p:spPr>
        <p:txBody>
          <a:bodyPr wrap="square" rtlCol="0" anchor="ctr"/>
          <a:lstStyle/>
          <a:p>
            <a:pPr algn="ctr" indent="0" marL="0">
              <a:buNone/>
            </a:pPr>
            <a:r>
              <a:rPr lang="en-US" sz="1600" b="1" dirty="0">
                <a:solidFill>
                  <a:srgbClr val="0094D7"/>
                </a:solidFill>
              </a:rPr>
              <a:t>Target</a:t>
            </a:r>
            <a:endParaRPr lang="en-US" sz="1600" dirty="0"/>
          </a:p>
          <a:p>
            <a:pPr algn="ctr" indent="0" marL="0">
              <a:buNone/>
            </a:pPr>
            <a:r>
              <a:rPr lang="en-US" sz="1300" b="1" dirty="0">
                <a:solidFill>
                  <a:srgbClr val="1E1E1E"/>
                </a:solidFill>
              </a:rPr>
              <a:t>👵 EP_AGE65 ≥ 15%</a:t>
            </a:r>
            <a:endParaRPr lang="en-US" sz="1600" dirty="0"/>
          </a:p>
        </p:txBody>
      </p:sp>
      <p:sp>
        <p:nvSpPr>
          <p:cNvPr id="13" name="Text 11"/>
          <p:cNvSpPr/>
          <p:nvPr/>
        </p:nvSpPr>
        <p:spPr>
          <a:xfrm>
            <a:off x="3566160" y="2926080"/>
            <a:ext cx="2194560" cy="548640"/>
          </a:xfrm>
          <a:prstGeom prst="rect">
            <a:avLst/>
          </a:prstGeom>
          <a:noFill/>
          <a:ln/>
        </p:spPr>
        <p:txBody>
          <a:bodyPr wrap="square" rtlCol="0" anchor="ctr"/>
          <a:lstStyle/>
          <a:p>
            <a:pPr algn="ctr" indent="0" marL="0">
              <a:buNone/>
            </a:pPr>
            <a:r>
              <a:rPr lang="en-US" sz="1100" dirty="0">
                <a:solidFill>
                  <a:srgbClr val="1E1E1E"/>
                </a:solidFill>
              </a:rPr>
              <a:t>Focus on areas with significant senior population</a:t>
            </a:r>
            <a:endParaRPr lang="en-US" sz="1100" dirty="0"/>
          </a:p>
        </p:txBody>
      </p:sp>
      <p:sp>
        <p:nvSpPr>
          <p:cNvPr id="14" name="Shape 12"/>
          <p:cNvSpPr/>
          <p:nvPr/>
        </p:nvSpPr>
        <p:spPr>
          <a:xfrm>
            <a:off x="3383280" y="4114800"/>
            <a:ext cx="2560320" cy="365760"/>
          </a:xfrm>
          <a:prstGeom prst="rect">
            <a:avLst/>
          </a:prstGeom>
          <a:solidFill>
            <a:srgbClr val="0094D7"/>
          </a:solidFill>
          <a:ln/>
        </p:spPr>
      </p:sp>
      <p:sp>
        <p:nvSpPr>
          <p:cNvPr id="15" name="Text 13"/>
          <p:cNvSpPr/>
          <p:nvPr/>
        </p:nvSpPr>
        <p:spPr>
          <a:xfrm>
            <a:off x="3474720" y="4160520"/>
            <a:ext cx="2377440" cy="274320"/>
          </a:xfrm>
          <a:prstGeom prst="rect">
            <a:avLst/>
          </a:prstGeom>
          <a:noFill/>
          <a:ln/>
        </p:spPr>
        <p:txBody>
          <a:bodyPr wrap="square" rtlCol="0" anchor="ctr"/>
          <a:lstStyle/>
          <a:p>
            <a:pPr algn="ctr" indent="0" marL="0">
              <a:buNone/>
            </a:pPr>
            <a:r>
              <a:rPr lang="en-US" sz="1100" b="1" dirty="0">
                <a:solidFill>
                  <a:srgbClr val="FFFFFF"/>
                </a:solidFill>
              </a:rPr>
              <a:t>Identifies 12 priority ZIPs</a:t>
            </a:r>
            <a:endParaRPr lang="en-US" sz="1100" dirty="0"/>
          </a:p>
        </p:txBody>
      </p:sp>
      <p:sp>
        <p:nvSpPr>
          <p:cNvPr id="16" name="Shape 14"/>
          <p:cNvSpPr/>
          <p:nvPr/>
        </p:nvSpPr>
        <p:spPr>
          <a:xfrm>
            <a:off x="6126480" y="2011680"/>
            <a:ext cx="2560320" cy="2560320"/>
          </a:xfrm>
          <a:prstGeom prst="rect">
            <a:avLst/>
          </a:prstGeom>
          <a:solidFill>
            <a:srgbClr val="FFFFFF"/>
          </a:solidFill>
          <a:ln/>
        </p:spPr>
      </p:sp>
      <p:sp>
        <p:nvSpPr>
          <p:cNvPr id="17" name="Text 15"/>
          <p:cNvSpPr/>
          <p:nvPr/>
        </p:nvSpPr>
        <p:spPr>
          <a:xfrm>
            <a:off x="6309360" y="2194560"/>
            <a:ext cx="2194560" cy="548640"/>
          </a:xfrm>
          <a:prstGeom prst="rect">
            <a:avLst/>
          </a:prstGeom>
          <a:noFill/>
          <a:ln/>
        </p:spPr>
        <p:txBody>
          <a:bodyPr wrap="square" rtlCol="0" anchor="ctr"/>
          <a:lstStyle/>
          <a:p>
            <a:pPr algn="ctr" indent="0" marL="0">
              <a:buNone/>
            </a:pPr>
            <a:r>
              <a:rPr lang="en-US" sz="1600" b="1" dirty="0">
                <a:solidFill>
                  <a:srgbClr val="0094D7"/>
                </a:solidFill>
              </a:rPr>
              <a:t>Tailor</a:t>
            </a:r>
            <a:endParaRPr lang="en-US" sz="1600" dirty="0"/>
          </a:p>
          <a:p>
            <a:pPr algn="ctr" indent="0" marL="0">
              <a:buNone/>
            </a:pPr>
            <a:r>
              <a:rPr lang="en-US" sz="1300" b="1" dirty="0">
                <a:solidFill>
                  <a:srgbClr val="1E1E1E"/>
                </a:solidFill>
              </a:rPr>
              <a:t>🚐 EP_POV150, EP_LIMENG, EP_NOVEH</a:t>
            </a:r>
            <a:endParaRPr lang="en-US" sz="1600" dirty="0"/>
          </a:p>
        </p:txBody>
      </p:sp>
      <p:sp>
        <p:nvSpPr>
          <p:cNvPr id="18" name="Text 16"/>
          <p:cNvSpPr/>
          <p:nvPr/>
        </p:nvSpPr>
        <p:spPr>
          <a:xfrm>
            <a:off x="6309360" y="2926080"/>
            <a:ext cx="2194560" cy="548640"/>
          </a:xfrm>
          <a:prstGeom prst="rect">
            <a:avLst/>
          </a:prstGeom>
          <a:noFill/>
          <a:ln/>
        </p:spPr>
        <p:txBody>
          <a:bodyPr wrap="square" rtlCol="0" anchor="ctr"/>
          <a:lstStyle/>
          <a:p>
            <a:pPr algn="ctr" indent="0" marL="0">
              <a:buNone/>
            </a:pPr>
            <a:r>
              <a:rPr lang="en-US" sz="1100" dirty="0">
                <a:solidFill>
                  <a:srgbClr val="1E1E1E"/>
                </a:solidFill>
              </a:rPr>
              <a:t>Customize approach based on specific barriers</a:t>
            </a:r>
            <a:endParaRPr lang="en-US" sz="1100" dirty="0"/>
          </a:p>
        </p:txBody>
      </p:sp>
      <p:sp>
        <p:nvSpPr>
          <p:cNvPr id="19" name="Shape 17"/>
          <p:cNvSpPr/>
          <p:nvPr/>
        </p:nvSpPr>
        <p:spPr>
          <a:xfrm>
            <a:off x="6126480" y="4114800"/>
            <a:ext cx="2560320" cy="365760"/>
          </a:xfrm>
          <a:prstGeom prst="rect">
            <a:avLst/>
          </a:prstGeom>
          <a:solidFill>
            <a:srgbClr val="0094D7"/>
          </a:solidFill>
          <a:ln/>
        </p:spPr>
      </p:sp>
      <p:sp>
        <p:nvSpPr>
          <p:cNvPr id="20" name="Text 18"/>
          <p:cNvSpPr/>
          <p:nvPr/>
        </p:nvSpPr>
        <p:spPr>
          <a:xfrm>
            <a:off x="6217920" y="4160520"/>
            <a:ext cx="2377440" cy="274320"/>
          </a:xfrm>
          <a:prstGeom prst="rect">
            <a:avLst/>
          </a:prstGeom>
          <a:noFill/>
          <a:ln/>
        </p:spPr>
        <p:txBody>
          <a:bodyPr wrap="square" rtlCol="0" anchor="ctr"/>
          <a:lstStyle/>
          <a:p>
            <a:pPr algn="ctr" indent="0" marL="0">
              <a:buNone/>
            </a:pPr>
            <a:r>
              <a:rPr lang="en-US" sz="1100" b="1" dirty="0">
                <a:solidFill>
                  <a:srgbClr val="FFFFFF"/>
                </a:solidFill>
              </a:rPr>
              <a:t>3 distinct intervention strategies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ED6D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600" b="1" dirty="0">
                <a:solidFill>
                  <a:srgbClr val="003359"/>
                </a:solidFill>
              </a:rPr>
              <a:t>Use Case: Pediatric Immunization Drive</a:t>
            </a:r>
            <a:endParaRPr lang="en-US" sz="3600" dirty="0"/>
          </a:p>
        </p:txBody>
      </p:sp>
      <p:sp>
        <p:nvSpPr>
          <p:cNvPr id="3" name="Shape 1"/>
          <p:cNvSpPr/>
          <p:nvPr/>
        </p:nvSpPr>
        <p:spPr>
          <a:xfrm>
            <a:off x="457200" y="1097280"/>
            <a:ext cx="4114800" cy="3657600"/>
          </a:xfrm>
          <a:prstGeom prst="rect">
            <a:avLst/>
          </a:prstGeom>
          <a:solidFill>
            <a:srgbClr val="FFFFFF"/>
          </a:solidFill>
          <a:ln/>
        </p:spPr>
      </p:sp>
      <p:sp>
        <p:nvSpPr>
          <p:cNvPr id="4" name="Text 2"/>
          <p:cNvSpPr/>
          <p:nvPr/>
        </p:nvSpPr>
        <p:spPr>
          <a:xfrm>
            <a:off x="640080" y="1280160"/>
            <a:ext cx="3749040" cy="320040"/>
          </a:xfrm>
          <a:prstGeom prst="rect">
            <a:avLst/>
          </a:prstGeom>
          <a:noFill/>
          <a:ln/>
        </p:spPr>
        <p:txBody>
          <a:bodyPr wrap="square" rtlCol="0" anchor="ctr"/>
          <a:lstStyle/>
          <a:p>
            <a:pPr indent="0" marL="0">
              <a:buNone/>
            </a:pPr>
            <a:r>
              <a:rPr lang="en-US" sz="1800" b="1" dirty="0">
                <a:solidFill>
                  <a:srgbClr val="0094D7"/>
                </a:solidFill>
              </a:rPr>
              <a:t>Campaign Strategy</a:t>
            </a:r>
            <a:endParaRPr lang="en-US" sz="1800" dirty="0"/>
          </a:p>
        </p:txBody>
      </p:sp>
      <p:sp>
        <p:nvSpPr>
          <p:cNvPr id="5" name="Text 3"/>
          <p:cNvSpPr/>
          <p:nvPr/>
        </p:nvSpPr>
        <p:spPr>
          <a:xfrm>
            <a:off x="640080" y="1737360"/>
            <a:ext cx="3749040" cy="2011680"/>
          </a:xfrm>
          <a:prstGeom prst="rect">
            <a:avLst/>
          </a:prstGeom>
          <a:noFill/>
          <a:ln/>
        </p:spPr>
        <p:txBody>
          <a:bodyPr wrap="square" rtlCol="0" anchor="ctr"/>
          <a:lstStyle/>
          <a:p>
            <a:pPr indent="0" marL="0">
              <a:buNone/>
            </a:pPr>
            <a:r>
              <a:rPr lang="en-US" sz="1300" b="1" dirty="0">
                <a:solidFill>
                  <a:srgbClr val="0094D7"/>
                </a:solidFill>
              </a:rPr>
              <a:t>Primary Filter: RPL_THEME1 ≥ 0.75</a:t>
            </a:r>
            <a:endParaRPr lang="en-US" sz="1300" dirty="0"/>
          </a:p>
          <a:p>
            <a:pPr indent="0" marL="0">
              <a:buNone/>
            </a:pPr>
            <a:r>
              <a:rPr lang="en-US" sz="1200" dirty="0">
                <a:solidFill>
                  <a:srgbClr val="64748B"/>
                </a:solidFill>
              </a:rPr>
              <a:t>Economic barriers to care</a:t>
            </a:r>
            <a:endParaRPr lang="en-US" sz="1300" dirty="0"/>
          </a:p>
          <a:p>
            <a:pPr indent="0" marL="0">
              <a:buNone/>
            </a:pPr>
            <a:endParaRPr lang="en-US" sz="1300" dirty="0"/>
          </a:p>
          <a:p>
            <a:pPr indent="0" marL="0">
              <a:buNone/>
            </a:pPr>
            <a:r>
              <a:rPr lang="en-US" sz="1300" b="1" dirty="0">
                <a:solidFill>
                  <a:srgbClr val="0094D7"/>
                </a:solidFill>
              </a:rPr>
              <a:t>Target Audience: EP_AGE17 ≥ 25%</a:t>
            </a:r>
            <a:endParaRPr lang="en-US" sz="1300" dirty="0"/>
          </a:p>
          <a:p>
            <a:pPr indent="0" marL="0">
              <a:buNone/>
            </a:pPr>
            <a:r>
              <a:rPr lang="en-US" sz="1200" dirty="0">
                <a:solidFill>
                  <a:srgbClr val="64748B"/>
                </a:solidFill>
              </a:rPr>
              <a:t>High pediatric population</a:t>
            </a:r>
            <a:endParaRPr lang="en-US" sz="1300" dirty="0"/>
          </a:p>
          <a:p>
            <a:pPr indent="0" marL="0">
              <a:buNone/>
            </a:pPr>
            <a:endParaRPr lang="en-US" sz="1300" dirty="0"/>
          </a:p>
          <a:p>
            <a:pPr indent="0" marL="0">
              <a:buNone/>
            </a:pPr>
            <a:r>
              <a:rPr lang="en-US" sz="1300" b="1" dirty="0">
                <a:solidFill>
                  <a:srgbClr val="003359"/>
                </a:solidFill>
              </a:rPr>
              <a:t>Tailor Interventions:</a:t>
            </a:r>
            <a:endParaRPr lang="en-US" sz="1300" dirty="0"/>
          </a:p>
        </p:txBody>
      </p:sp>
      <p:sp>
        <p:nvSpPr>
          <p:cNvPr id="6" name="Text 4"/>
          <p:cNvSpPr/>
          <p:nvPr/>
        </p:nvSpPr>
        <p:spPr>
          <a:xfrm>
            <a:off x="822960" y="3931920"/>
            <a:ext cx="3566160" cy="731520"/>
          </a:xfrm>
          <a:prstGeom prst="rect">
            <a:avLst/>
          </a:prstGeom>
          <a:noFill/>
          <a:ln/>
        </p:spPr>
        <p:txBody>
          <a:bodyPr wrap="square" rtlCol="0" anchor="ctr"/>
          <a:lstStyle/>
          <a:p>
            <a:pPr marL="342900" indent="-342900">
              <a:buSzPct val="100000"/>
              <a:buChar char="•"/>
            </a:pPr>
            <a:r>
              <a:rPr lang="en-US" sz="1200" dirty="0">
                <a:solidFill>
                  <a:srgbClr val="1E1E1E"/>
                </a:solidFill>
              </a:rPr>
              <a:t>IF EP_SNGPNT &gt; 20%: Offer evening/weekend clinics</a:t>
            </a:r>
            <a:endParaRPr lang="en-US" sz="1200" dirty="0"/>
          </a:p>
          <a:p>
            <a:pPr marL="342900" indent="-342900">
              <a:buSzPct val="100000"/>
              <a:buChar char="•"/>
            </a:pPr>
            <a:r>
              <a:rPr lang="en-US" sz="1200" dirty="0">
                <a:solidFill>
                  <a:srgbClr val="1E1E1E"/>
                </a:solidFill>
              </a:rPr>
              <a:t>IF EP_UNINSUR &gt; 15%: Promote VFC program eligibility</a:t>
            </a:r>
            <a:endParaRPr lang="en-US" sz="1200" dirty="0"/>
          </a:p>
          <a:p>
            <a:pPr marL="342900" indent="-342900">
              <a:buSzPct val="100000"/>
              <a:buChar char="•"/>
            </a:pPr>
            <a:r>
              <a:rPr lang="en-US" sz="1200" dirty="0">
                <a:solidFill>
                  <a:srgbClr val="1E1E1E"/>
                </a:solidFill>
              </a:rPr>
              <a:t>IF EP_LIMENG &gt; 10%: Deploy bilingual outreach workers</a:t>
            </a:r>
            <a:endParaRPr lang="en-US" sz="1200" dirty="0"/>
          </a:p>
        </p:txBody>
      </p:sp>
      <p:sp>
        <p:nvSpPr>
          <p:cNvPr id="7" name="Shape 5"/>
          <p:cNvSpPr/>
          <p:nvPr/>
        </p:nvSpPr>
        <p:spPr>
          <a:xfrm>
            <a:off x="4846320" y="1097280"/>
            <a:ext cx="3840480" cy="3657600"/>
          </a:xfrm>
          <a:prstGeom prst="rect">
            <a:avLst/>
          </a:prstGeom>
          <a:solidFill>
            <a:srgbClr val="003359"/>
          </a:solidFill>
          <a:ln/>
        </p:spPr>
      </p:sp>
      <p:sp>
        <p:nvSpPr>
          <p:cNvPr id="8" name="Text 6"/>
          <p:cNvSpPr/>
          <p:nvPr/>
        </p:nvSpPr>
        <p:spPr>
          <a:xfrm>
            <a:off x="5029200" y="1280160"/>
            <a:ext cx="3474720" cy="320040"/>
          </a:xfrm>
          <a:prstGeom prst="rect">
            <a:avLst/>
          </a:prstGeom>
          <a:noFill/>
          <a:ln/>
        </p:spPr>
        <p:txBody>
          <a:bodyPr wrap="square" rtlCol="0" anchor="ctr"/>
          <a:lstStyle/>
          <a:p>
            <a:pPr indent="0" marL="0">
              <a:buNone/>
            </a:pPr>
            <a:r>
              <a:rPr lang="en-US" sz="1800" b="1" dirty="0">
                <a:solidFill>
                  <a:srgbClr val="FFFFFF"/>
                </a:solidFill>
              </a:rPr>
              <a:t>Expected Impact</a:t>
            </a:r>
            <a:endParaRPr lang="en-US" sz="1800" dirty="0"/>
          </a:p>
        </p:txBody>
      </p:sp>
      <p:sp>
        <p:nvSpPr>
          <p:cNvPr id="9" name="Text 7"/>
          <p:cNvSpPr/>
          <p:nvPr/>
        </p:nvSpPr>
        <p:spPr>
          <a:xfrm>
            <a:off x="5029200" y="2011680"/>
            <a:ext cx="3474720" cy="457200"/>
          </a:xfrm>
          <a:prstGeom prst="rect">
            <a:avLst/>
          </a:prstGeom>
          <a:noFill/>
          <a:ln/>
        </p:spPr>
        <p:txBody>
          <a:bodyPr wrap="square" rtlCol="0" anchor="ctr"/>
          <a:lstStyle/>
          <a:p>
            <a:pPr algn="ctr" indent="0" marL="0">
              <a:buNone/>
            </a:pPr>
            <a:r>
              <a:rPr lang="en-US" sz="4000" b="1" dirty="0">
                <a:solidFill>
                  <a:srgbClr val="8FCAE7"/>
                </a:solidFill>
              </a:rPr>
              <a:t>3-5x</a:t>
            </a:r>
            <a:endParaRPr lang="en-US" sz="4000" dirty="0"/>
          </a:p>
        </p:txBody>
      </p:sp>
      <p:sp>
        <p:nvSpPr>
          <p:cNvPr id="10" name="Text 8"/>
          <p:cNvSpPr/>
          <p:nvPr/>
        </p:nvSpPr>
        <p:spPr>
          <a:xfrm>
            <a:off x="5029200" y="2514600"/>
            <a:ext cx="3474720" cy="320040"/>
          </a:xfrm>
          <a:prstGeom prst="rect">
            <a:avLst/>
          </a:prstGeom>
          <a:noFill/>
          <a:ln/>
        </p:spPr>
        <p:txBody>
          <a:bodyPr wrap="square" rtlCol="0" anchor="ctr"/>
          <a:lstStyle/>
          <a:p>
            <a:pPr algn="ctr" indent="0" marL="0">
              <a:buNone/>
            </a:pPr>
            <a:r>
              <a:rPr lang="en-US" sz="1300" dirty="0">
                <a:solidFill>
                  <a:srgbClr val="FFFFFF"/>
                </a:solidFill>
              </a:rPr>
              <a:t>Higher engagement rate vs. standard mail</a:t>
            </a:r>
            <a:endParaRPr lang="en-US" sz="1300" dirty="0"/>
          </a:p>
        </p:txBody>
      </p:sp>
      <p:sp>
        <p:nvSpPr>
          <p:cNvPr id="11" name="Text 9"/>
          <p:cNvSpPr/>
          <p:nvPr/>
        </p:nvSpPr>
        <p:spPr>
          <a:xfrm>
            <a:off x="5029200" y="3063240"/>
            <a:ext cx="3474720" cy="457200"/>
          </a:xfrm>
          <a:prstGeom prst="rect">
            <a:avLst/>
          </a:prstGeom>
          <a:noFill/>
          <a:ln/>
        </p:spPr>
        <p:txBody>
          <a:bodyPr wrap="square" rtlCol="0" anchor="ctr"/>
          <a:lstStyle/>
          <a:p>
            <a:pPr algn="ctr" indent="0" marL="0">
              <a:buNone/>
            </a:pPr>
            <a:r>
              <a:rPr lang="en-US" sz="4000" b="1" dirty="0">
                <a:solidFill>
                  <a:srgbClr val="8FCAE7"/>
                </a:solidFill>
              </a:rPr>
              <a:t>60%</a:t>
            </a:r>
            <a:endParaRPr lang="en-US" sz="4000" dirty="0"/>
          </a:p>
        </p:txBody>
      </p:sp>
      <p:sp>
        <p:nvSpPr>
          <p:cNvPr id="12" name="Text 10"/>
          <p:cNvSpPr/>
          <p:nvPr/>
        </p:nvSpPr>
        <p:spPr>
          <a:xfrm>
            <a:off x="5029200" y="3566160"/>
            <a:ext cx="3474720" cy="320040"/>
          </a:xfrm>
          <a:prstGeom prst="rect">
            <a:avLst/>
          </a:prstGeom>
          <a:noFill/>
          <a:ln/>
        </p:spPr>
        <p:txBody>
          <a:bodyPr wrap="square" rtlCol="0" anchor="ctr"/>
          <a:lstStyle/>
          <a:p>
            <a:pPr algn="ctr" indent="0" marL="0">
              <a:buNone/>
            </a:pPr>
            <a:r>
              <a:rPr lang="en-US" sz="1300" dirty="0">
                <a:solidFill>
                  <a:srgbClr val="FFFFFF"/>
                </a:solidFill>
              </a:rPr>
              <a:t>Show rate (vs. 30% without tailoring)</a:t>
            </a:r>
            <a:endParaRPr lang="en-US" sz="1300" dirty="0"/>
          </a:p>
        </p:txBody>
      </p:sp>
      <p:sp>
        <p:nvSpPr>
          <p:cNvPr id="13" name="Text 11"/>
          <p:cNvSpPr/>
          <p:nvPr/>
        </p:nvSpPr>
        <p:spPr>
          <a:xfrm>
            <a:off x="5029200" y="4114800"/>
            <a:ext cx="3474720" cy="457200"/>
          </a:xfrm>
          <a:prstGeom prst="rect">
            <a:avLst/>
          </a:prstGeom>
          <a:noFill/>
          <a:ln/>
        </p:spPr>
        <p:txBody>
          <a:bodyPr wrap="square" rtlCol="0" anchor="ctr"/>
          <a:lstStyle/>
          <a:p>
            <a:pPr algn="ctr" indent="0" marL="0">
              <a:buNone/>
            </a:pPr>
            <a:r>
              <a:rPr lang="en-US" sz="4000" b="1" dirty="0">
                <a:solidFill>
                  <a:srgbClr val="8FCAE7"/>
                </a:solidFill>
              </a:rPr>
              <a:t>40%</a:t>
            </a:r>
            <a:endParaRPr lang="en-US" sz="4000" dirty="0"/>
          </a:p>
        </p:txBody>
      </p:sp>
      <p:sp>
        <p:nvSpPr>
          <p:cNvPr id="14" name="Text 12"/>
          <p:cNvSpPr/>
          <p:nvPr/>
        </p:nvSpPr>
        <p:spPr>
          <a:xfrm>
            <a:off x="5029200" y="4617720"/>
            <a:ext cx="3474720" cy="320040"/>
          </a:xfrm>
          <a:prstGeom prst="rect">
            <a:avLst/>
          </a:prstGeom>
          <a:noFill/>
          <a:ln/>
        </p:spPr>
        <p:txBody>
          <a:bodyPr wrap="square" rtlCol="0" anchor="ctr"/>
          <a:lstStyle/>
          <a:p>
            <a:pPr algn="ctr" indent="0" marL="0">
              <a:buNone/>
            </a:pPr>
            <a:r>
              <a:rPr lang="en-US" sz="1300" dirty="0">
                <a:solidFill>
                  <a:srgbClr val="FFFFFF"/>
                </a:solidFill>
              </a:rPr>
              <a:t>Reduction in resource waste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600" b="1" dirty="0">
                <a:solidFill>
                  <a:srgbClr val="003359"/>
                </a:solidFill>
              </a:rPr>
              <a:t>Use Case: Health Equity Initiative</a:t>
            </a:r>
            <a:endParaRPr lang="en-US" sz="3600" dirty="0"/>
          </a:p>
        </p:txBody>
      </p:sp>
      <p:sp>
        <p:nvSpPr>
          <p:cNvPr id="3" name="Text 1"/>
          <p:cNvSpPr/>
          <p:nvPr/>
        </p:nvSpPr>
        <p:spPr>
          <a:xfrm>
            <a:off x="457200" y="868680"/>
            <a:ext cx="8229600" cy="228600"/>
          </a:xfrm>
          <a:prstGeom prst="rect">
            <a:avLst/>
          </a:prstGeom>
          <a:noFill/>
          <a:ln/>
        </p:spPr>
        <p:txBody>
          <a:bodyPr wrap="square" rtlCol="0" anchor="ctr"/>
          <a:lstStyle/>
          <a:p>
            <a:pPr indent="0" marL="0">
              <a:buNone/>
            </a:pPr>
            <a:r>
              <a:rPr lang="en-US" sz="1400" i="1" dirty="0">
                <a:solidFill>
                  <a:srgbClr val="64748B"/>
                </a:solidFill>
              </a:rPr>
              <a:t>Addressing disparities in minority communities</a:t>
            </a:r>
            <a:endParaRPr lang="en-US" sz="1400" dirty="0"/>
          </a:p>
        </p:txBody>
      </p:sp>
      <p:sp>
        <p:nvSpPr>
          <p:cNvPr id="4" name="Shape 2"/>
          <p:cNvSpPr/>
          <p:nvPr/>
        </p:nvSpPr>
        <p:spPr>
          <a:xfrm>
            <a:off x="457200" y="1280160"/>
            <a:ext cx="8229600" cy="3474720"/>
          </a:xfrm>
          <a:prstGeom prst="rect">
            <a:avLst/>
          </a:prstGeom>
          <a:solidFill>
            <a:srgbClr val="BED6DB"/>
          </a:solidFill>
          <a:ln/>
        </p:spPr>
      </p:sp>
      <p:sp>
        <p:nvSpPr>
          <p:cNvPr id="5" name="Text 3"/>
          <p:cNvSpPr/>
          <p:nvPr/>
        </p:nvSpPr>
        <p:spPr>
          <a:xfrm>
            <a:off x="640080" y="1463040"/>
            <a:ext cx="3931920" cy="320040"/>
          </a:xfrm>
          <a:prstGeom prst="rect">
            <a:avLst/>
          </a:prstGeom>
          <a:noFill/>
          <a:ln/>
        </p:spPr>
        <p:txBody>
          <a:bodyPr wrap="square" rtlCol="0" anchor="ctr"/>
          <a:lstStyle/>
          <a:p>
            <a:pPr indent="0" marL="0">
              <a:buNone/>
            </a:pPr>
            <a:r>
              <a:rPr lang="en-US" sz="1600" b="1" dirty="0">
                <a:solidFill>
                  <a:srgbClr val="0094D7"/>
                </a:solidFill>
              </a:rPr>
              <a:t>Target Selection</a:t>
            </a:r>
            <a:endParaRPr lang="en-US" sz="1600" dirty="0"/>
          </a:p>
        </p:txBody>
      </p:sp>
      <p:sp>
        <p:nvSpPr>
          <p:cNvPr id="6" name="Text 4"/>
          <p:cNvSpPr/>
          <p:nvPr/>
        </p:nvSpPr>
        <p:spPr>
          <a:xfrm>
            <a:off x="822960" y="1920240"/>
            <a:ext cx="3749040" cy="2651760"/>
          </a:xfrm>
          <a:prstGeom prst="rect">
            <a:avLst/>
          </a:prstGeom>
          <a:noFill/>
          <a:ln/>
        </p:spPr>
        <p:txBody>
          <a:bodyPr wrap="square" rtlCol="0" anchor="ctr"/>
          <a:lstStyle/>
          <a:p>
            <a:pPr marL="342900" indent="-342900">
              <a:buSzPct val="100000"/>
              <a:buChar char="•"/>
            </a:pPr>
            <a:r>
              <a:rPr lang="en-US" sz="1200" dirty="0">
                <a:solidFill>
                  <a:srgbClr val="1E1E1E"/>
                </a:solidFill>
              </a:rPr>
              <a:t>Primary: RPL_THEME3 ≥ 0.75</a:t>
            </a:r>
            <a:endParaRPr lang="en-US" sz="1200" dirty="0"/>
          </a:p>
          <a:p>
            <a:pPr lvl="1" marL="685800" indent="-342900">
              <a:buSzPct val="100000"/>
              <a:buChar char="•"/>
            </a:pPr>
            <a:r>
              <a:rPr lang="en-US" sz="1100" dirty="0">
                <a:solidFill>
                  <a:srgbClr val="64748B"/>
                </a:solidFill>
              </a:rPr>
              <a:t>Racial/ethnic minority vulnerability</a:t>
            </a:r>
            <a:endParaRPr lang="en-US" sz="1200" dirty="0"/>
          </a:p>
          <a:p>
            <a:pPr indent="0" marL="0">
              <a:buNone/>
            </a:pPr>
            <a:endParaRPr lang="en-US" sz="1200" dirty="0"/>
          </a:p>
          <a:p>
            <a:pPr marL="342900" indent="-342900">
              <a:buSzPct val="100000"/>
              <a:buChar char="•"/>
            </a:pPr>
            <a:r>
              <a:rPr lang="en-US" sz="1200" dirty="0">
                <a:solidFill>
                  <a:srgbClr val="1E1E1E"/>
                </a:solidFill>
              </a:rPr>
              <a:t>Secondary: EP_MINRTY ≥ 40%</a:t>
            </a:r>
            <a:endParaRPr lang="en-US" sz="1200" dirty="0"/>
          </a:p>
          <a:p>
            <a:pPr lvl="1" marL="685800" indent="-342900">
              <a:buSzPct val="100000"/>
              <a:buChar char="•"/>
            </a:pPr>
            <a:r>
              <a:rPr lang="en-US" sz="1100" dirty="0">
                <a:solidFill>
                  <a:srgbClr val="64748B"/>
                </a:solidFill>
              </a:rPr>
              <a:t>Minority-majority areas</a:t>
            </a:r>
            <a:endParaRPr lang="en-US" sz="1200" dirty="0"/>
          </a:p>
          <a:p>
            <a:pPr indent="0" marL="0">
              <a:buNone/>
            </a:pPr>
            <a:endParaRPr lang="en-US" sz="1200" dirty="0"/>
          </a:p>
          <a:p>
            <a:pPr marL="342900" indent="-342900">
              <a:buSzPct val="100000"/>
              <a:buChar char="•"/>
            </a:pPr>
            <a:r>
              <a:rPr lang="en-US" sz="1200" dirty="0">
                <a:solidFill>
                  <a:srgbClr val="1E1E1E"/>
                </a:solidFill>
              </a:rPr>
              <a:t>Tertiary Filters:</a:t>
            </a:r>
            <a:endParaRPr lang="en-US" sz="1200" dirty="0"/>
          </a:p>
          <a:p>
            <a:pPr lvl="1" marL="685800" indent="-342900">
              <a:buSzPct val="100000"/>
              <a:buChar char="•"/>
            </a:pPr>
            <a:r>
              <a:rPr lang="en-US" sz="1100" dirty="0">
                <a:solidFill>
                  <a:srgbClr val="1E1E1E"/>
                </a:solidFill>
              </a:rPr>
              <a:t>EP_POV150 (poverty levels)</a:t>
            </a:r>
            <a:endParaRPr lang="en-US" sz="1200" dirty="0"/>
          </a:p>
          <a:p>
            <a:pPr lvl="1" marL="685800" indent="-342900">
              <a:buSzPct val="100000"/>
              <a:buChar char="•"/>
            </a:pPr>
            <a:r>
              <a:rPr lang="en-US" sz="1100" dirty="0">
                <a:solidFill>
                  <a:srgbClr val="1E1E1E"/>
                </a:solidFill>
              </a:rPr>
              <a:t>EP_LIMENG (language barriers)</a:t>
            </a:r>
            <a:endParaRPr lang="en-US" sz="1200" dirty="0"/>
          </a:p>
          <a:p>
            <a:pPr lvl="1" marL="685800" indent="-342900">
              <a:buSzPct val="100000"/>
              <a:buChar char="•"/>
            </a:pPr>
            <a:r>
              <a:rPr lang="en-US" sz="1100" dirty="0">
                <a:solidFill>
                  <a:srgbClr val="1E1E1E"/>
                </a:solidFill>
              </a:rPr>
              <a:t>EP_DISABL (accessibility needs)</a:t>
            </a:r>
            <a:endParaRPr lang="en-US" sz="1200" dirty="0"/>
          </a:p>
        </p:txBody>
      </p:sp>
      <p:sp>
        <p:nvSpPr>
          <p:cNvPr id="7" name="Text 5"/>
          <p:cNvSpPr/>
          <p:nvPr/>
        </p:nvSpPr>
        <p:spPr>
          <a:xfrm>
            <a:off x="4754880" y="1463040"/>
            <a:ext cx="3749040" cy="320040"/>
          </a:xfrm>
          <a:prstGeom prst="rect">
            <a:avLst/>
          </a:prstGeom>
          <a:noFill/>
          <a:ln/>
        </p:spPr>
        <p:txBody>
          <a:bodyPr wrap="square" rtlCol="0" anchor="ctr"/>
          <a:lstStyle/>
          <a:p>
            <a:pPr indent="0" marL="0">
              <a:buNone/>
            </a:pPr>
            <a:r>
              <a:rPr lang="en-US" sz="1600" b="1" dirty="0">
                <a:solidFill>
                  <a:srgbClr val="0094D7"/>
                </a:solidFill>
              </a:rPr>
              <a:t>Tailored Interventions</a:t>
            </a:r>
            <a:endParaRPr lang="en-US" sz="1600" dirty="0"/>
          </a:p>
        </p:txBody>
      </p:sp>
      <p:sp>
        <p:nvSpPr>
          <p:cNvPr id="8" name="Text 6"/>
          <p:cNvSpPr/>
          <p:nvPr/>
        </p:nvSpPr>
        <p:spPr>
          <a:xfrm>
            <a:off x="4937760" y="1920240"/>
            <a:ext cx="3383280" cy="228600"/>
          </a:xfrm>
          <a:prstGeom prst="rect">
            <a:avLst/>
          </a:prstGeom>
          <a:noFill/>
          <a:ln/>
        </p:spPr>
        <p:txBody>
          <a:bodyPr wrap="square" rtlCol="0" anchor="ctr"/>
          <a:lstStyle/>
          <a:p>
            <a:pPr indent="0" marL="0">
              <a:buNone/>
            </a:pPr>
            <a:r>
              <a:rPr lang="en-US" sz="1200" b="1" dirty="0">
                <a:solidFill>
                  <a:srgbClr val="1E1E1E"/>
                </a:solidFill>
              </a:rPr>
              <a:t>👥 Community Health Workers</a:t>
            </a:r>
            <a:endParaRPr lang="en-US" sz="1200" dirty="0"/>
          </a:p>
        </p:txBody>
      </p:sp>
      <p:sp>
        <p:nvSpPr>
          <p:cNvPr id="9" name="Text 7"/>
          <p:cNvSpPr/>
          <p:nvPr/>
        </p:nvSpPr>
        <p:spPr>
          <a:xfrm>
            <a:off x="4937760" y="2167128"/>
            <a:ext cx="3383280" cy="320040"/>
          </a:xfrm>
          <a:prstGeom prst="rect">
            <a:avLst/>
          </a:prstGeom>
          <a:noFill/>
          <a:ln/>
        </p:spPr>
        <p:txBody>
          <a:bodyPr wrap="square" rtlCol="0" anchor="ctr"/>
          <a:lstStyle/>
          <a:p>
            <a:pPr indent="0" marL="0">
              <a:buNone/>
            </a:pPr>
            <a:r>
              <a:rPr lang="en-US" sz="1100" dirty="0">
                <a:solidFill>
                  <a:srgbClr val="64748B"/>
                </a:solidFill>
              </a:rPr>
              <a:t>Culturally matched navigators from the community</a:t>
            </a:r>
            <a:endParaRPr lang="en-US" sz="1100" dirty="0"/>
          </a:p>
        </p:txBody>
      </p:sp>
      <p:sp>
        <p:nvSpPr>
          <p:cNvPr id="10" name="Text 8"/>
          <p:cNvSpPr/>
          <p:nvPr/>
        </p:nvSpPr>
        <p:spPr>
          <a:xfrm>
            <a:off x="4937760" y="2560320"/>
            <a:ext cx="3383280" cy="228600"/>
          </a:xfrm>
          <a:prstGeom prst="rect">
            <a:avLst/>
          </a:prstGeom>
          <a:noFill/>
          <a:ln/>
        </p:spPr>
        <p:txBody>
          <a:bodyPr wrap="square" rtlCol="0" anchor="ctr"/>
          <a:lstStyle/>
          <a:p>
            <a:pPr indent="0" marL="0">
              <a:buNone/>
            </a:pPr>
            <a:r>
              <a:rPr lang="en-US" sz="1200" b="1" dirty="0">
                <a:solidFill>
                  <a:srgbClr val="1E1E1E"/>
                </a:solidFill>
              </a:rPr>
              <a:t>🌍 Language Services</a:t>
            </a:r>
            <a:endParaRPr lang="en-US" sz="1200" dirty="0"/>
          </a:p>
        </p:txBody>
      </p:sp>
      <p:sp>
        <p:nvSpPr>
          <p:cNvPr id="11" name="Text 9"/>
          <p:cNvSpPr/>
          <p:nvPr/>
        </p:nvSpPr>
        <p:spPr>
          <a:xfrm>
            <a:off x="4937760" y="2807208"/>
            <a:ext cx="3383280" cy="320040"/>
          </a:xfrm>
          <a:prstGeom prst="rect">
            <a:avLst/>
          </a:prstGeom>
          <a:noFill/>
          <a:ln/>
        </p:spPr>
        <p:txBody>
          <a:bodyPr wrap="square" rtlCol="0" anchor="ctr"/>
          <a:lstStyle/>
          <a:p>
            <a:pPr indent="0" marL="0">
              <a:buNone/>
            </a:pPr>
            <a:r>
              <a:rPr lang="en-US" sz="1100" dirty="0">
                <a:solidFill>
                  <a:srgbClr val="64748B"/>
                </a:solidFill>
              </a:rPr>
              <a:t>Interpretation and translated materials in top languages</a:t>
            </a:r>
            <a:endParaRPr lang="en-US" sz="1100" dirty="0"/>
          </a:p>
        </p:txBody>
      </p:sp>
      <p:sp>
        <p:nvSpPr>
          <p:cNvPr id="12" name="Text 10"/>
          <p:cNvSpPr/>
          <p:nvPr/>
        </p:nvSpPr>
        <p:spPr>
          <a:xfrm>
            <a:off x="4937760" y="3200400"/>
            <a:ext cx="3383280" cy="228600"/>
          </a:xfrm>
          <a:prstGeom prst="rect">
            <a:avLst/>
          </a:prstGeom>
          <a:noFill/>
          <a:ln/>
        </p:spPr>
        <p:txBody>
          <a:bodyPr wrap="square" rtlCol="0" anchor="ctr"/>
          <a:lstStyle/>
          <a:p>
            <a:pPr indent="0" marL="0">
              <a:buNone/>
            </a:pPr>
            <a:r>
              <a:rPr lang="en-US" sz="1200" b="1" dirty="0">
                <a:solidFill>
                  <a:srgbClr val="1E1E1E"/>
                </a:solidFill>
              </a:rPr>
              <a:t>♿ Accessibility</a:t>
            </a:r>
            <a:endParaRPr lang="en-US" sz="1200" dirty="0"/>
          </a:p>
        </p:txBody>
      </p:sp>
      <p:sp>
        <p:nvSpPr>
          <p:cNvPr id="13" name="Text 11"/>
          <p:cNvSpPr/>
          <p:nvPr/>
        </p:nvSpPr>
        <p:spPr>
          <a:xfrm>
            <a:off x="4937760" y="3447288"/>
            <a:ext cx="3383280" cy="320040"/>
          </a:xfrm>
          <a:prstGeom prst="rect">
            <a:avLst/>
          </a:prstGeom>
          <a:noFill/>
          <a:ln/>
        </p:spPr>
        <p:txBody>
          <a:bodyPr wrap="square" rtlCol="0" anchor="ctr"/>
          <a:lstStyle/>
          <a:p>
            <a:pPr indent="0" marL="0">
              <a:buNone/>
            </a:pPr>
            <a:r>
              <a:rPr lang="en-US" sz="1100" dirty="0">
                <a:solidFill>
                  <a:srgbClr val="64748B"/>
                </a:solidFill>
              </a:rPr>
              <a:t>ADA-compliant facilities and transportation</a:t>
            </a:r>
            <a:endParaRPr lang="en-US" sz="1100" dirty="0"/>
          </a:p>
        </p:txBody>
      </p:sp>
      <p:sp>
        <p:nvSpPr>
          <p:cNvPr id="14" name="Text 12"/>
          <p:cNvSpPr/>
          <p:nvPr/>
        </p:nvSpPr>
        <p:spPr>
          <a:xfrm>
            <a:off x="4937760" y="3840480"/>
            <a:ext cx="3383280" cy="228600"/>
          </a:xfrm>
          <a:prstGeom prst="rect">
            <a:avLst/>
          </a:prstGeom>
          <a:noFill/>
          <a:ln/>
        </p:spPr>
        <p:txBody>
          <a:bodyPr wrap="square" rtlCol="0" anchor="ctr"/>
          <a:lstStyle/>
          <a:p>
            <a:pPr indent="0" marL="0">
              <a:buNone/>
            </a:pPr>
            <a:r>
              <a:rPr lang="en-US" sz="1200" b="1" dirty="0">
                <a:solidFill>
                  <a:srgbClr val="1E1E1E"/>
                </a:solidFill>
              </a:rPr>
              <a:t>🏥 Community Sites</a:t>
            </a:r>
            <a:endParaRPr lang="en-US" sz="1200" dirty="0"/>
          </a:p>
        </p:txBody>
      </p:sp>
      <p:sp>
        <p:nvSpPr>
          <p:cNvPr id="15" name="Text 13"/>
          <p:cNvSpPr/>
          <p:nvPr/>
        </p:nvSpPr>
        <p:spPr>
          <a:xfrm>
            <a:off x="4937760" y="4087368"/>
            <a:ext cx="3383280" cy="320040"/>
          </a:xfrm>
          <a:prstGeom prst="rect">
            <a:avLst/>
          </a:prstGeom>
          <a:noFill/>
          <a:ln/>
        </p:spPr>
        <p:txBody>
          <a:bodyPr wrap="square" rtlCol="0" anchor="ctr"/>
          <a:lstStyle/>
          <a:p>
            <a:pPr indent="0" marL="0">
              <a:buNone/>
            </a:pPr>
            <a:r>
              <a:rPr lang="en-US" sz="1100" dirty="0">
                <a:solidFill>
                  <a:srgbClr val="64748B"/>
                </a:solidFill>
              </a:rPr>
              <a:t>Services at churches, schools, and familiar locations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359"/>
        </a:solidFill>
      </p:bgPr>
    </p:bg>
    <p:spTree>
      <p:nvGrpSpPr>
        <p:cNvPr id="1" name=""/>
        <p:cNvGrpSpPr/>
        <p:nvPr/>
      </p:nvGrpSpPr>
      <p:grpSpPr>
        <a:xfrm>
          <a:off x="0" y="0"/>
          <a:ext cx="0" cy="0"/>
          <a:chOff x="0" y="0"/>
          <a:chExt cx="0" cy="0"/>
        </a:xfrm>
      </p:grpSpPr>
      <p:sp>
        <p:nvSpPr>
          <p:cNvPr id="2" name="Text 0"/>
          <p:cNvSpPr/>
          <p:nvPr/>
        </p:nvSpPr>
        <p:spPr>
          <a:xfrm>
            <a:off x="457200" y="1828800"/>
            <a:ext cx="8229600" cy="640080"/>
          </a:xfrm>
          <a:prstGeom prst="rect">
            <a:avLst/>
          </a:prstGeom>
          <a:noFill/>
          <a:ln/>
        </p:spPr>
        <p:txBody>
          <a:bodyPr wrap="square" rtlCol="0" anchor="ctr"/>
          <a:lstStyle/>
          <a:p>
            <a:pPr algn="ctr" indent="0" marL="0">
              <a:buNone/>
            </a:pPr>
            <a:r>
              <a:rPr lang="en-US" sz="4400" b="1" dirty="0">
                <a:solidFill>
                  <a:srgbClr val="FFFFFF"/>
                </a:solidFill>
              </a:rPr>
              <a:t>How Others Use SVI</a:t>
            </a:r>
            <a:endParaRPr lang="en-US" sz="4400" dirty="0"/>
          </a:p>
        </p:txBody>
      </p:sp>
      <p:sp>
        <p:nvSpPr>
          <p:cNvPr id="3" name="Text 1"/>
          <p:cNvSpPr/>
          <p:nvPr/>
        </p:nvSpPr>
        <p:spPr>
          <a:xfrm>
            <a:off x="457200" y="2651760"/>
            <a:ext cx="8229600" cy="365760"/>
          </a:xfrm>
          <a:prstGeom prst="rect">
            <a:avLst/>
          </a:prstGeom>
          <a:noFill/>
          <a:ln/>
        </p:spPr>
        <p:txBody>
          <a:bodyPr wrap="square" rtlCol="0" anchor="ctr"/>
          <a:lstStyle/>
          <a:p>
            <a:pPr algn="ctr" indent="0" marL="0">
              <a:buNone/>
            </a:pPr>
            <a:r>
              <a:rPr lang="en-US" sz="1800" i="1" dirty="0">
                <a:solidFill>
                  <a:srgbClr val="8FCAE7"/>
                </a:solidFill>
              </a:rPr>
              <a:t>Real-world applications from academic research and healthcare systems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ED6DB"/>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lIns="0" tIns="0" rIns="0" bIns="0" rtlCol="0" anchor="ctr"/>
          <a:lstStyle/>
          <a:p>
            <a:pPr indent="0" marL="0">
              <a:buNone/>
            </a:pPr>
            <a:r>
              <a:rPr lang="en-US" sz="3200" b="1" dirty="0">
                <a:solidFill>
                  <a:srgbClr val="003359"/>
                </a:solidFill>
              </a:rPr>
              <a:t>Research Application #1</a:t>
            </a:r>
            <a:endParaRPr lang="en-US" sz="3200" dirty="0"/>
          </a:p>
        </p:txBody>
      </p:sp>
      <p:sp>
        <p:nvSpPr>
          <p:cNvPr id="3" name="Text 1"/>
          <p:cNvSpPr/>
          <p:nvPr/>
        </p:nvSpPr>
        <p:spPr>
          <a:xfrm>
            <a:off x="457200" y="731520"/>
            <a:ext cx="8229600" cy="320040"/>
          </a:xfrm>
          <a:prstGeom prst="rect">
            <a:avLst/>
          </a:prstGeom>
          <a:noFill/>
          <a:ln/>
        </p:spPr>
        <p:txBody>
          <a:bodyPr wrap="square" rtlCol="0" anchor="ctr"/>
          <a:lstStyle/>
          <a:p>
            <a:pPr indent="0" marL="0">
              <a:buNone/>
            </a:pPr>
            <a:r>
              <a:rPr lang="en-US" sz="2400" dirty="0">
                <a:solidFill>
                  <a:srgbClr val="0094D7"/>
                </a:solidFill>
              </a:rPr>
              <a:t>Medicare Advantage Quality &amp; Access</a:t>
            </a:r>
            <a:endParaRPr lang="en-US" sz="2400" dirty="0"/>
          </a:p>
        </p:txBody>
      </p:sp>
      <p:sp>
        <p:nvSpPr>
          <p:cNvPr id="4" name="Text 2"/>
          <p:cNvSpPr/>
          <p:nvPr/>
        </p:nvSpPr>
        <p:spPr>
          <a:xfrm>
            <a:off x="457200" y="1097280"/>
            <a:ext cx="8229600" cy="182880"/>
          </a:xfrm>
          <a:prstGeom prst="rect">
            <a:avLst/>
          </a:prstGeom>
          <a:noFill/>
          <a:ln/>
        </p:spPr>
        <p:txBody>
          <a:bodyPr wrap="square" rtlCol="0" anchor="ctr"/>
          <a:lstStyle/>
          <a:p>
            <a:pPr indent="0" marL="0">
              <a:buNone/>
            </a:pPr>
            <a:r>
              <a:rPr lang="en-US" sz="1100" i="1" dirty="0">
                <a:solidFill>
                  <a:srgbClr val="64748B"/>
                </a:solidFill>
              </a:rPr>
              <a:t>Source: Department of Health Administration and Policy | County-level SVI analysis</a:t>
            </a:r>
            <a:endParaRPr lang="en-US" sz="1100" dirty="0"/>
          </a:p>
        </p:txBody>
      </p:sp>
      <p:sp>
        <p:nvSpPr>
          <p:cNvPr id="5" name="Shape 3"/>
          <p:cNvSpPr/>
          <p:nvPr/>
        </p:nvSpPr>
        <p:spPr>
          <a:xfrm>
            <a:off x="457200" y="1463040"/>
            <a:ext cx="8229600" cy="1097280"/>
          </a:xfrm>
          <a:prstGeom prst="rect">
            <a:avLst/>
          </a:prstGeom>
          <a:solidFill>
            <a:srgbClr val="FFFFFF"/>
          </a:solidFill>
          <a:ln/>
        </p:spPr>
      </p:sp>
      <p:sp>
        <p:nvSpPr>
          <p:cNvPr id="6" name="Shape 4"/>
          <p:cNvSpPr/>
          <p:nvPr/>
        </p:nvSpPr>
        <p:spPr>
          <a:xfrm>
            <a:off x="457200" y="1463040"/>
            <a:ext cx="73152" cy="1097280"/>
          </a:xfrm>
          <a:prstGeom prst="rect">
            <a:avLst/>
          </a:prstGeom>
          <a:solidFill>
            <a:srgbClr val="0094D7"/>
          </a:solidFill>
          <a:ln/>
        </p:spPr>
      </p:sp>
      <p:sp>
        <p:nvSpPr>
          <p:cNvPr id="7" name="Text 5"/>
          <p:cNvSpPr/>
          <p:nvPr/>
        </p:nvSpPr>
        <p:spPr>
          <a:xfrm>
            <a:off x="731520" y="1600200"/>
            <a:ext cx="7772400" cy="228600"/>
          </a:xfrm>
          <a:prstGeom prst="rect">
            <a:avLst/>
          </a:prstGeom>
          <a:noFill/>
          <a:ln/>
        </p:spPr>
        <p:txBody>
          <a:bodyPr wrap="square" rtlCol="0" anchor="ctr"/>
          <a:lstStyle/>
          <a:p>
            <a:pPr indent="0" marL="0">
              <a:buNone/>
            </a:pPr>
            <a:r>
              <a:rPr lang="en-US" sz="1400" b="1" dirty="0">
                <a:solidFill>
                  <a:srgbClr val="0094D7"/>
                </a:solidFill>
              </a:rPr>
              <a:t>Key Finding</a:t>
            </a:r>
            <a:endParaRPr lang="en-US" sz="1400" dirty="0"/>
          </a:p>
        </p:txBody>
      </p:sp>
      <p:sp>
        <p:nvSpPr>
          <p:cNvPr id="8" name="Text 6"/>
          <p:cNvSpPr/>
          <p:nvPr/>
        </p:nvSpPr>
        <p:spPr>
          <a:xfrm>
            <a:off x="731520" y="1874520"/>
            <a:ext cx="7772400" cy="548640"/>
          </a:xfrm>
          <a:prstGeom prst="rect">
            <a:avLst/>
          </a:prstGeom>
          <a:noFill/>
          <a:ln/>
        </p:spPr>
        <p:txBody>
          <a:bodyPr wrap="square" rtlCol="0" anchor="ctr"/>
          <a:lstStyle/>
          <a:p>
            <a:pPr indent="0" marL="0">
              <a:buNone/>
            </a:pPr>
            <a:r>
              <a:rPr lang="en-US" sz="1300" dirty="0">
                <a:solidFill>
                  <a:srgbClr val="1E1E1E"/>
                </a:solidFill>
              </a:rPr>
              <a:t>Counties with higher Social Vulnerability Index scores had significantly lower access to high-quality Medicare Advantage plans. SVI was a stronger predictor of plan quality than income alone.</a:t>
            </a:r>
            <a:endParaRPr lang="en-US" sz="1300" dirty="0"/>
          </a:p>
        </p:txBody>
      </p:sp>
      <p:sp>
        <p:nvSpPr>
          <p:cNvPr id="9" name="Shape 7"/>
          <p:cNvSpPr/>
          <p:nvPr/>
        </p:nvSpPr>
        <p:spPr>
          <a:xfrm>
            <a:off x="457200" y="2743200"/>
            <a:ext cx="4023360" cy="2011680"/>
          </a:xfrm>
          <a:prstGeom prst="rect">
            <a:avLst/>
          </a:prstGeom>
          <a:solidFill>
            <a:srgbClr val="FFFFFF"/>
          </a:solidFill>
          <a:ln/>
        </p:spPr>
      </p:sp>
      <p:sp>
        <p:nvSpPr>
          <p:cNvPr id="10" name="Text 8"/>
          <p:cNvSpPr/>
          <p:nvPr/>
        </p:nvSpPr>
        <p:spPr>
          <a:xfrm>
            <a:off x="640080" y="2926080"/>
            <a:ext cx="3657600" cy="274320"/>
          </a:xfrm>
          <a:prstGeom prst="rect">
            <a:avLst/>
          </a:prstGeom>
          <a:noFill/>
          <a:ln/>
        </p:spPr>
        <p:txBody>
          <a:bodyPr wrap="square" rtlCol="0" anchor="ctr"/>
          <a:lstStyle/>
          <a:p>
            <a:pPr indent="0" marL="0">
              <a:buNone/>
            </a:pPr>
            <a:r>
              <a:rPr lang="en-US" sz="1500" b="1" dirty="0">
                <a:solidFill>
                  <a:srgbClr val="003359"/>
                </a:solidFill>
              </a:rPr>
              <a:t>Methodology</a:t>
            </a:r>
            <a:endParaRPr lang="en-US" sz="1500" dirty="0"/>
          </a:p>
        </p:txBody>
      </p:sp>
      <p:sp>
        <p:nvSpPr>
          <p:cNvPr id="11" name="Text 9"/>
          <p:cNvSpPr/>
          <p:nvPr/>
        </p:nvSpPr>
        <p:spPr>
          <a:xfrm>
            <a:off x="822960" y="3291840"/>
            <a:ext cx="3474720" cy="1280160"/>
          </a:xfrm>
          <a:prstGeom prst="rect">
            <a:avLst/>
          </a:prstGeom>
          <a:noFill/>
          <a:ln/>
        </p:spPr>
        <p:txBody>
          <a:bodyPr wrap="square" rtlCol="0" anchor="ctr"/>
          <a:lstStyle/>
          <a:p>
            <a:pPr marL="342900" indent="-342900">
              <a:buSzPct val="100000"/>
              <a:buChar char="•"/>
            </a:pPr>
            <a:r>
              <a:rPr lang="en-US" sz="1200" dirty="0">
                <a:solidFill>
                  <a:srgbClr val="1E1E1E"/>
                </a:solidFill>
              </a:rPr>
              <a:t>Analyzed county-level SVI scores</a:t>
            </a:r>
            <a:endParaRPr lang="en-US" sz="1200" dirty="0"/>
          </a:p>
          <a:p>
            <a:pPr marL="342900" indent="-342900">
              <a:buSzPct val="100000"/>
              <a:buChar char="•"/>
            </a:pPr>
            <a:r>
              <a:rPr lang="en-US" sz="1200" dirty="0">
                <a:solidFill>
                  <a:srgbClr val="1E1E1E"/>
                </a:solidFill>
              </a:rPr>
              <a:t>Mapped to Medicare Advantage star ratings</a:t>
            </a:r>
            <a:endParaRPr lang="en-US" sz="1200" dirty="0"/>
          </a:p>
          <a:p>
            <a:pPr marL="342900" indent="-342900">
              <a:buSzPct val="100000"/>
              <a:buChar char="•"/>
            </a:pPr>
            <a:r>
              <a:rPr lang="en-US" sz="1200" dirty="0">
                <a:solidFill>
                  <a:srgbClr val="1E1E1E"/>
                </a:solidFill>
              </a:rPr>
              <a:t>Controlled for urbanicity and provider supply</a:t>
            </a:r>
            <a:endParaRPr lang="en-US" sz="1200" dirty="0"/>
          </a:p>
          <a:p>
            <a:pPr marL="342900" indent="-342900">
              <a:buSzPct val="100000"/>
              <a:buChar char="•"/>
            </a:pPr>
            <a:r>
              <a:rPr lang="en-US" sz="1200" dirty="0">
                <a:solidFill>
                  <a:srgbClr val="1E1E1E"/>
                </a:solidFill>
              </a:rPr>
              <a:t>Found inverse correlation: Higher SVI = Lower plan quality</a:t>
            </a:r>
            <a:endParaRPr lang="en-US" sz="1200" dirty="0"/>
          </a:p>
        </p:txBody>
      </p:sp>
      <p:sp>
        <p:nvSpPr>
          <p:cNvPr id="12" name="Shape 10"/>
          <p:cNvSpPr/>
          <p:nvPr/>
        </p:nvSpPr>
        <p:spPr>
          <a:xfrm>
            <a:off x="4663440" y="2743200"/>
            <a:ext cx="4023360" cy="2011680"/>
          </a:xfrm>
          <a:prstGeom prst="rect">
            <a:avLst/>
          </a:prstGeom>
          <a:solidFill>
            <a:srgbClr val="BED6DB"/>
          </a:solidFill>
          <a:ln/>
        </p:spPr>
      </p:sp>
      <p:sp>
        <p:nvSpPr>
          <p:cNvPr id="13" name="Text 11"/>
          <p:cNvSpPr/>
          <p:nvPr/>
        </p:nvSpPr>
        <p:spPr>
          <a:xfrm>
            <a:off x="4846320" y="2926080"/>
            <a:ext cx="3657600" cy="274320"/>
          </a:xfrm>
          <a:prstGeom prst="rect">
            <a:avLst/>
          </a:prstGeom>
          <a:noFill/>
          <a:ln/>
        </p:spPr>
        <p:txBody>
          <a:bodyPr wrap="square" rtlCol="0" anchor="ctr"/>
          <a:lstStyle/>
          <a:p>
            <a:pPr indent="0" marL="0">
              <a:buNone/>
            </a:pPr>
            <a:r>
              <a:rPr lang="en-US" sz="1500" b="1" dirty="0">
                <a:solidFill>
                  <a:srgbClr val="003359"/>
                </a:solidFill>
              </a:rPr>
              <a:t>Application for Our Tool</a:t>
            </a:r>
            <a:endParaRPr lang="en-US" sz="1500" dirty="0"/>
          </a:p>
        </p:txBody>
      </p:sp>
      <p:sp>
        <p:nvSpPr>
          <p:cNvPr id="14" name="Text 12"/>
          <p:cNvSpPr/>
          <p:nvPr/>
        </p:nvSpPr>
        <p:spPr>
          <a:xfrm>
            <a:off x="4846320" y="3291840"/>
            <a:ext cx="3657600" cy="1280160"/>
          </a:xfrm>
          <a:prstGeom prst="rect">
            <a:avLst/>
          </a:prstGeom>
          <a:noFill/>
          <a:ln/>
        </p:spPr>
        <p:txBody>
          <a:bodyPr wrap="square" rtlCol="0" anchor="ctr"/>
          <a:lstStyle/>
          <a:p>
            <a:pPr marL="342900" indent="-342900">
              <a:buSzPct val="100000"/>
              <a:buChar char="•"/>
            </a:pPr>
            <a:r>
              <a:rPr lang="en-US" sz="1200" dirty="0">
                <a:solidFill>
                  <a:srgbClr val="1E1E1E"/>
                </a:solidFill>
              </a:rPr>
              <a:t>Identify ZIP codes with high SVI but low MA enrollment</a:t>
            </a:r>
            <a:endParaRPr lang="en-US" sz="1200" dirty="0"/>
          </a:p>
          <a:p>
            <a:pPr marL="342900" indent="-342900">
              <a:buSzPct val="100000"/>
              <a:buChar char="•"/>
            </a:pPr>
            <a:r>
              <a:rPr lang="en-US" sz="1200" dirty="0">
                <a:solidFill>
                  <a:srgbClr val="1E1E1E"/>
                </a:solidFill>
              </a:rPr>
              <a:t>Target enrollment campaigns to vulnerable areas</a:t>
            </a:r>
            <a:endParaRPr lang="en-US" sz="1200" dirty="0"/>
          </a:p>
          <a:p>
            <a:pPr marL="342900" indent="-342900">
              <a:buSzPct val="100000"/>
              <a:buChar char="•"/>
            </a:pPr>
            <a:r>
              <a:rPr lang="en-US" sz="1200" dirty="0">
                <a:solidFill>
                  <a:srgbClr val="1E1E1E"/>
                </a:solidFill>
              </a:rPr>
              <a:t>Partner with high-quality plans for outreach</a:t>
            </a:r>
            <a:endParaRPr lang="en-US" sz="1200" dirty="0"/>
          </a:p>
          <a:p>
            <a:pPr marL="342900" indent="-342900">
              <a:buSzPct val="100000"/>
              <a:buChar char="•"/>
            </a:pPr>
            <a:r>
              <a:rPr lang="en-US" sz="1200" dirty="0">
                <a:solidFill>
                  <a:srgbClr val="1E1E1E"/>
                </a:solidFill>
              </a:rPr>
              <a:t>Monitor quality disparities in our network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lIns="0" tIns="0" rIns="0" bIns="0" rtlCol="0" anchor="ctr"/>
          <a:lstStyle/>
          <a:p>
            <a:pPr indent="0" marL="0">
              <a:buNone/>
            </a:pPr>
            <a:r>
              <a:rPr lang="en-US" sz="3200" b="1" dirty="0">
                <a:solidFill>
                  <a:srgbClr val="003359"/>
                </a:solidFill>
              </a:rPr>
              <a:t>Research Application #2</a:t>
            </a:r>
            <a:endParaRPr lang="en-US" sz="3200" dirty="0"/>
          </a:p>
        </p:txBody>
      </p:sp>
      <p:sp>
        <p:nvSpPr>
          <p:cNvPr id="3" name="Text 1"/>
          <p:cNvSpPr/>
          <p:nvPr/>
        </p:nvSpPr>
        <p:spPr>
          <a:xfrm>
            <a:off x="457200" y="731520"/>
            <a:ext cx="8229600" cy="320040"/>
          </a:xfrm>
          <a:prstGeom prst="rect">
            <a:avLst/>
          </a:prstGeom>
          <a:noFill/>
          <a:ln/>
        </p:spPr>
        <p:txBody>
          <a:bodyPr wrap="square" rtlCol="0" anchor="ctr"/>
          <a:lstStyle/>
          <a:p>
            <a:pPr indent="0" marL="0">
              <a:buNone/>
            </a:pPr>
            <a:r>
              <a:rPr lang="en-US" sz="2400" dirty="0">
                <a:solidFill>
                  <a:srgbClr val="0094D7"/>
                </a:solidFill>
              </a:rPr>
              <a:t>Surgical Outcomes &amp; Disparities</a:t>
            </a:r>
            <a:endParaRPr lang="en-US" sz="2400" dirty="0"/>
          </a:p>
        </p:txBody>
      </p:sp>
      <p:sp>
        <p:nvSpPr>
          <p:cNvPr id="4" name="Text 2"/>
          <p:cNvSpPr/>
          <p:nvPr/>
        </p:nvSpPr>
        <p:spPr>
          <a:xfrm>
            <a:off x="457200" y="1097280"/>
            <a:ext cx="8229600" cy="182880"/>
          </a:xfrm>
          <a:prstGeom prst="rect">
            <a:avLst/>
          </a:prstGeom>
          <a:noFill/>
          <a:ln/>
        </p:spPr>
        <p:txBody>
          <a:bodyPr wrap="square" rtlCol="0" anchor="ctr"/>
          <a:lstStyle/>
          <a:p>
            <a:pPr indent="0" marL="0">
              <a:buNone/>
            </a:pPr>
            <a:r>
              <a:rPr lang="en-US" sz="1100" i="1" dirty="0">
                <a:solidFill>
                  <a:srgbClr val="64748B"/>
                </a:solidFill>
              </a:rPr>
              <a:t>Source: PMC | Moving from Scores to Solutions</a:t>
            </a:r>
            <a:endParaRPr lang="en-US" sz="1100" dirty="0"/>
          </a:p>
        </p:txBody>
      </p:sp>
      <p:sp>
        <p:nvSpPr>
          <p:cNvPr id="5" name="Shape 3"/>
          <p:cNvSpPr/>
          <p:nvPr/>
        </p:nvSpPr>
        <p:spPr>
          <a:xfrm>
            <a:off x="457200" y="1463040"/>
            <a:ext cx="8229600" cy="1097280"/>
          </a:xfrm>
          <a:prstGeom prst="rect">
            <a:avLst/>
          </a:prstGeom>
          <a:solidFill>
            <a:srgbClr val="BED6DB"/>
          </a:solidFill>
          <a:ln/>
        </p:spPr>
      </p:sp>
      <p:sp>
        <p:nvSpPr>
          <p:cNvPr id="6" name="Shape 4"/>
          <p:cNvSpPr/>
          <p:nvPr/>
        </p:nvSpPr>
        <p:spPr>
          <a:xfrm>
            <a:off x="457200" y="1463040"/>
            <a:ext cx="73152" cy="1097280"/>
          </a:xfrm>
          <a:prstGeom prst="rect">
            <a:avLst/>
          </a:prstGeom>
          <a:solidFill>
            <a:srgbClr val="0094D7"/>
          </a:solidFill>
          <a:ln/>
        </p:spPr>
      </p:sp>
      <p:sp>
        <p:nvSpPr>
          <p:cNvPr id="7" name="Text 5"/>
          <p:cNvSpPr/>
          <p:nvPr/>
        </p:nvSpPr>
        <p:spPr>
          <a:xfrm>
            <a:off x="731520" y="1600200"/>
            <a:ext cx="7772400" cy="228600"/>
          </a:xfrm>
          <a:prstGeom prst="rect">
            <a:avLst/>
          </a:prstGeom>
          <a:noFill/>
          <a:ln/>
        </p:spPr>
        <p:txBody>
          <a:bodyPr wrap="square" rtlCol="0" anchor="ctr"/>
          <a:lstStyle/>
          <a:p>
            <a:pPr indent="0" marL="0">
              <a:buNone/>
            </a:pPr>
            <a:r>
              <a:rPr lang="en-US" sz="1400" b="1" dirty="0">
                <a:solidFill>
                  <a:srgbClr val="0094D7"/>
                </a:solidFill>
              </a:rPr>
              <a:t>Key Finding</a:t>
            </a:r>
            <a:endParaRPr lang="en-US" sz="1400" dirty="0"/>
          </a:p>
        </p:txBody>
      </p:sp>
      <p:sp>
        <p:nvSpPr>
          <p:cNvPr id="8" name="Text 6"/>
          <p:cNvSpPr/>
          <p:nvPr/>
        </p:nvSpPr>
        <p:spPr>
          <a:xfrm>
            <a:off x="731520" y="1874520"/>
            <a:ext cx="7772400" cy="548640"/>
          </a:xfrm>
          <a:prstGeom prst="rect">
            <a:avLst/>
          </a:prstGeom>
          <a:noFill/>
          <a:ln/>
        </p:spPr>
        <p:txBody>
          <a:bodyPr wrap="square" rtlCol="0" anchor="ctr"/>
          <a:lstStyle/>
          <a:p>
            <a:pPr indent="0" marL="0">
              <a:buNone/>
            </a:pPr>
            <a:r>
              <a:rPr lang="en-US" sz="1300" dirty="0">
                <a:solidFill>
                  <a:srgbClr val="1E1E1E"/>
                </a:solidFill>
              </a:rPr>
              <a:t>Patients from high-SVI areas had 40% higher rates of post-operative complications and 2.5x higher 90-day readmission rates. SVI outperformed individual socioeconomic variables in predicting surgical risk.</a:t>
            </a:r>
            <a:endParaRPr lang="en-US" sz="1300" dirty="0"/>
          </a:p>
        </p:txBody>
      </p:sp>
      <p:sp>
        <p:nvSpPr>
          <p:cNvPr id="9" name="Shape 7"/>
          <p:cNvSpPr/>
          <p:nvPr/>
        </p:nvSpPr>
        <p:spPr>
          <a:xfrm>
            <a:off x="1371600" y="2743200"/>
            <a:ext cx="6400800" cy="731520"/>
          </a:xfrm>
          <a:prstGeom prst="rect">
            <a:avLst/>
          </a:prstGeom>
          <a:solidFill>
            <a:srgbClr val="0094D7"/>
          </a:solidFill>
          <a:ln/>
        </p:spPr>
      </p:sp>
      <p:sp>
        <p:nvSpPr>
          <p:cNvPr id="10" name="Text 8"/>
          <p:cNvSpPr/>
          <p:nvPr/>
        </p:nvSpPr>
        <p:spPr>
          <a:xfrm>
            <a:off x="1554480" y="2880360"/>
            <a:ext cx="6035040" cy="457200"/>
          </a:xfrm>
          <a:prstGeom prst="rect">
            <a:avLst/>
          </a:prstGeom>
          <a:noFill/>
          <a:ln/>
        </p:spPr>
        <p:txBody>
          <a:bodyPr wrap="square" rtlCol="0" anchor="ctr"/>
          <a:lstStyle/>
          <a:p>
            <a:pPr algn="ctr" indent="0" marL="0">
              <a:buNone/>
            </a:pPr>
            <a:r>
              <a:rPr lang="en-US" sz="1400" i="1" dirty="0">
                <a:solidFill>
                  <a:srgbClr val="FFFFFF"/>
                </a:solidFill>
              </a:rPr>
              <a:t>"We moved from identifying vulnerable populations to designing specific pre-op and post-op support interventions."</a:t>
            </a:r>
            <a:endParaRPr lang="en-US" sz="1400" dirty="0"/>
          </a:p>
        </p:txBody>
      </p:sp>
      <p:sp>
        <p:nvSpPr>
          <p:cNvPr id="11" name="Shape 9"/>
          <p:cNvSpPr/>
          <p:nvPr/>
        </p:nvSpPr>
        <p:spPr>
          <a:xfrm>
            <a:off x="914400" y="3657600"/>
            <a:ext cx="3657600" cy="1097280"/>
          </a:xfrm>
          <a:prstGeom prst="rect">
            <a:avLst/>
          </a:prstGeom>
          <a:solidFill>
            <a:srgbClr val="BED6DB"/>
          </a:solidFill>
          <a:ln/>
        </p:spPr>
      </p:sp>
      <p:sp>
        <p:nvSpPr>
          <p:cNvPr id="12" name="Text 10"/>
          <p:cNvSpPr/>
          <p:nvPr/>
        </p:nvSpPr>
        <p:spPr>
          <a:xfrm>
            <a:off x="1097280" y="3794760"/>
            <a:ext cx="3291840" cy="228600"/>
          </a:xfrm>
          <a:prstGeom prst="rect">
            <a:avLst/>
          </a:prstGeom>
          <a:noFill/>
          <a:ln/>
        </p:spPr>
        <p:txBody>
          <a:bodyPr wrap="square" rtlCol="0" anchor="ctr"/>
          <a:lstStyle/>
          <a:p>
            <a:pPr indent="0" marL="0">
              <a:buNone/>
            </a:pPr>
            <a:r>
              <a:rPr lang="en-US" sz="1400" b="1" dirty="0">
                <a:solidFill>
                  <a:srgbClr val="003359"/>
                </a:solidFill>
              </a:rPr>
              <a:t>Pre-Operative</a:t>
            </a:r>
            <a:endParaRPr lang="en-US" sz="1400" dirty="0"/>
          </a:p>
        </p:txBody>
      </p:sp>
      <p:sp>
        <p:nvSpPr>
          <p:cNvPr id="13" name="Text 11"/>
          <p:cNvSpPr/>
          <p:nvPr/>
        </p:nvSpPr>
        <p:spPr>
          <a:xfrm>
            <a:off x="1097280" y="4114800"/>
            <a:ext cx="3291840" cy="548640"/>
          </a:xfrm>
          <a:prstGeom prst="rect">
            <a:avLst/>
          </a:prstGeom>
          <a:noFill/>
          <a:ln/>
        </p:spPr>
        <p:txBody>
          <a:bodyPr wrap="square" rtlCol="0" anchor="ctr"/>
          <a:lstStyle/>
          <a:p>
            <a:pPr indent="0" marL="0">
              <a:buNone/>
            </a:pPr>
            <a:r>
              <a:rPr lang="en-US" sz="1100" dirty="0">
                <a:solidFill>
                  <a:srgbClr val="1E1E1E"/>
                </a:solidFill>
              </a:rPr>
              <a:t>• Enhanced education sessions</a:t>
            </a:r>
            <a:endParaRPr lang="en-US" sz="1100" dirty="0"/>
          </a:p>
          <a:p>
            <a:pPr indent="0" marL="0">
              <a:buNone/>
            </a:pPr>
            <a:r>
              <a:rPr lang="en-US" sz="1100" dirty="0">
                <a:solidFill>
                  <a:srgbClr val="1E1E1E"/>
                </a:solidFill>
              </a:rPr>
              <a:t>• Care coordinator assignment</a:t>
            </a:r>
            <a:endParaRPr lang="en-US" sz="1100" dirty="0"/>
          </a:p>
          <a:p>
            <a:pPr indent="0" marL="0">
              <a:buNone/>
            </a:pPr>
            <a:r>
              <a:rPr lang="en-US" sz="1100" dirty="0">
                <a:solidFill>
                  <a:srgbClr val="1E1E1E"/>
                </a:solidFill>
              </a:rPr>
              <a:t>• Transportation planning</a:t>
            </a:r>
            <a:endParaRPr lang="en-US" sz="1100" dirty="0"/>
          </a:p>
        </p:txBody>
      </p:sp>
      <p:sp>
        <p:nvSpPr>
          <p:cNvPr id="14" name="Shape 12"/>
          <p:cNvSpPr/>
          <p:nvPr/>
        </p:nvSpPr>
        <p:spPr>
          <a:xfrm>
            <a:off x="5029200" y="3657600"/>
            <a:ext cx="3657600" cy="1097280"/>
          </a:xfrm>
          <a:prstGeom prst="rect">
            <a:avLst/>
          </a:prstGeom>
          <a:solidFill>
            <a:srgbClr val="BED6DB"/>
          </a:solidFill>
          <a:ln/>
        </p:spPr>
      </p:sp>
      <p:sp>
        <p:nvSpPr>
          <p:cNvPr id="15" name="Text 13"/>
          <p:cNvSpPr/>
          <p:nvPr/>
        </p:nvSpPr>
        <p:spPr>
          <a:xfrm>
            <a:off x="5212080" y="3794760"/>
            <a:ext cx="3291840" cy="228600"/>
          </a:xfrm>
          <a:prstGeom prst="rect">
            <a:avLst/>
          </a:prstGeom>
          <a:noFill/>
          <a:ln/>
        </p:spPr>
        <p:txBody>
          <a:bodyPr wrap="square" rtlCol="0" anchor="ctr"/>
          <a:lstStyle/>
          <a:p>
            <a:pPr indent="0" marL="0">
              <a:buNone/>
            </a:pPr>
            <a:r>
              <a:rPr lang="en-US" sz="1400" b="1" dirty="0">
                <a:solidFill>
                  <a:srgbClr val="003359"/>
                </a:solidFill>
              </a:rPr>
              <a:t>Post-Operative</a:t>
            </a:r>
            <a:endParaRPr lang="en-US" sz="1400" dirty="0"/>
          </a:p>
        </p:txBody>
      </p:sp>
      <p:sp>
        <p:nvSpPr>
          <p:cNvPr id="16" name="Text 14"/>
          <p:cNvSpPr/>
          <p:nvPr/>
        </p:nvSpPr>
        <p:spPr>
          <a:xfrm>
            <a:off x="5212080" y="4114800"/>
            <a:ext cx="3291840" cy="548640"/>
          </a:xfrm>
          <a:prstGeom prst="rect">
            <a:avLst/>
          </a:prstGeom>
          <a:noFill/>
          <a:ln/>
        </p:spPr>
        <p:txBody>
          <a:bodyPr wrap="square" rtlCol="0" anchor="ctr"/>
          <a:lstStyle/>
          <a:p>
            <a:pPr indent="0" marL="0">
              <a:buNone/>
            </a:pPr>
            <a:r>
              <a:rPr lang="en-US" sz="1100" dirty="0">
                <a:solidFill>
                  <a:srgbClr val="1E1E1E"/>
                </a:solidFill>
              </a:rPr>
              <a:t>• Home visit programs</a:t>
            </a:r>
            <a:endParaRPr lang="en-US" sz="1100" dirty="0"/>
          </a:p>
          <a:p>
            <a:pPr indent="0" marL="0">
              <a:buNone/>
            </a:pPr>
            <a:r>
              <a:rPr lang="en-US" sz="1100" dirty="0">
                <a:solidFill>
                  <a:srgbClr val="1E1E1E"/>
                </a:solidFill>
              </a:rPr>
              <a:t>• Extended follow-up calls</a:t>
            </a:r>
            <a:endParaRPr lang="en-US" sz="1100" dirty="0"/>
          </a:p>
          <a:p>
            <a:pPr indent="0" marL="0">
              <a:buNone/>
            </a:pPr>
            <a:r>
              <a:rPr lang="en-US" sz="1100" dirty="0">
                <a:solidFill>
                  <a:srgbClr val="1E1E1E"/>
                </a:solidFill>
              </a:rPr>
              <a:t>• Community health worker support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BED6DB"/>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lIns="0" tIns="0" rIns="0" bIns="0" rtlCol="0" anchor="ctr"/>
          <a:lstStyle/>
          <a:p>
            <a:pPr indent="0" marL="0">
              <a:buNone/>
            </a:pPr>
            <a:r>
              <a:rPr lang="en-US" sz="3200" b="1" dirty="0">
                <a:solidFill>
                  <a:srgbClr val="003359"/>
                </a:solidFill>
              </a:rPr>
              <a:t>Research Application #3</a:t>
            </a:r>
            <a:endParaRPr lang="en-US" sz="3200" dirty="0"/>
          </a:p>
        </p:txBody>
      </p:sp>
      <p:sp>
        <p:nvSpPr>
          <p:cNvPr id="3" name="Text 1"/>
          <p:cNvSpPr/>
          <p:nvPr/>
        </p:nvSpPr>
        <p:spPr>
          <a:xfrm>
            <a:off x="457200" y="731520"/>
            <a:ext cx="8229600" cy="320040"/>
          </a:xfrm>
          <a:prstGeom prst="rect">
            <a:avLst/>
          </a:prstGeom>
          <a:noFill/>
          <a:ln/>
        </p:spPr>
        <p:txBody>
          <a:bodyPr wrap="square" rtlCol="0" anchor="ctr"/>
          <a:lstStyle/>
          <a:p>
            <a:pPr indent="0" marL="0">
              <a:buNone/>
            </a:pPr>
            <a:r>
              <a:rPr lang="en-US" sz="2400" dirty="0">
                <a:solidFill>
                  <a:srgbClr val="0094D7"/>
                </a:solidFill>
              </a:rPr>
              <a:t>Cardiovascular Disease Care Continuum</a:t>
            </a:r>
            <a:endParaRPr lang="en-US" sz="2400" dirty="0"/>
          </a:p>
        </p:txBody>
      </p:sp>
      <p:sp>
        <p:nvSpPr>
          <p:cNvPr id="4" name="Text 2"/>
          <p:cNvSpPr/>
          <p:nvPr/>
        </p:nvSpPr>
        <p:spPr>
          <a:xfrm>
            <a:off x="457200" y="1097280"/>
            <a:ext cx="8229600" cy="182880"/>
          </a:xfrm>
          <a:prstGeom prst="rect">
            <a:avLst/>
          </a:prstGeom>
          <a:noFill/>
          <a:ln/>
        </p:spPr>
        <p:txBody>
          <a:bodyPr wrap="square" rtlCol="0" anchor="ctr"/>
          <a:lstStyle/>
          <a:p>
            <a:pPr indent="0" marL="0">
              <a:buNone/>
            </a:pPr>
            <a:r>
              <a:rPr lang="en-US" sz="1100" i="1" dirty="0">
                <a:solidFill>
                  <a:srgbClr val="64748B"/>
                </a:solidFill>
              </a:rPr>
              <a:t>Sources: Houston Methodist CVD Registry (JACC) | ScienceDirect Scoping Review</a:t>
            </a:r>
            <a:endParaRPr lang="en-US" sz="1100" dirty="0"/>
          </a:p>
        </p:txBody>
      </p:sp>
      <p:sp>
        <p:nvSpPr>
          <p:cNvPr id="5" name="Shape 3"/>
          <p:cNvSpPr/>
          <p:nvPr/>
        </p:nvSpPr>
        <p:spPr>
          <a:xfrm>
            <a:off x="457200" y="1463040"/>
            <a:ext cx="8229600" cy="1188720"/>
          </a:xfrm>
          <a:prstGeom prst="rect">
            <a:avLst/>
          </a:prstGeom>
          <a:solidFill>
            <a:srgbClr val="FFFFFF"/>
          </a:solidFill>
          <a:ln/>
        </p:spPr>
      </p:sp>
      <p:sp>
        <p:nvSpPr>
          <p:cNvPr id="6" name="Shape 4"/>
          <p:cNvSpPr/>
          <p:nvPr/>
        </p:nvSpPr>
        <p:spPr>
          <a:xfrm>
            <a:off x="457200" y="1463040"/>
            <a:ext cx="73152" cy="1188720"/>
          </a:xfrm>
          <a:prstGeom prst="rect">
            <a:avLst/>
          </a:prstGeom>
          <a:solidFill>
            <a:srgbClr val="0094D7"/>
          </a:solidFill>
          <a:ln/>
        </p:spPr>
      </p:sp>
      <p:sp>
        <p:nvSpPr>
          <p:cNvPr id="7" name="Text 5"/>
          <p:cNvSpPr/>
          <p:nvPr/>
        </p:nvSpPr>
        <p:spPr>
          <a:xfrm>
            <a:off x="731520" y="1600200"/>
            <a:ext cx="7772400" cy="228600"/>
          </a:xfrm>
          <a:prstGeom prst="rect">
            <a:avLst/>
          </a:prstGeom>
          <a:noFill/>
          <a:ln/>
        </p:spPr>
        <p:txBody>
          <a:bodyPr wrap="square" rtlCol="0" anchor="ctr"/>
          <a:lstStyle/>
          <a:p>
            <a:pPr indent="0" marL="0">
              <a:buNone/>
            </a:pPr>
            <a:r>
              <a:rPr lang="en-US" sz="1400" b="1" dirty="0">
                <a:solidFill>
                  <a:srgbClr val="0094D7"/>
                </a:solidFill>
              </a:rPr>
              <a:t>Key Finding</a:t>
            </a:r>
            <a:endParaRPr lang="en-US" sz="1400" dirty="0"/>
          </a:p>
        </p:txBody>
      </p:sp>
      <p:sp>
        <p:nvSpPr>
          <p:cNvPr id="8" name="Text 6"/>
          <p:cNvSpPr/>
          <p:nvPr/>
        </p:nvSpPr>
        <p:spPr>
          <a:xfrm>
            <a:off x="731520" y="1874520"/>
            <a:ext cx="7772400" cy="640080"/>
          </a:xfrm>
          <a:prstGeom prst="rect">
            <a:avLst/>
          </a:prstGeom>
          <a:noFill/>
          <a:ln/>
        </p:spPr>
        <p:txBody>
          <a:bodyPr wrap="square" rtlCol="0" anchor="ctr"/>
          <a:lstStyle/>
          <a:p>
            <a:pPr indent="0" marL="0">
              <a:buNone/>
            </a:pPr>
            <a:r>
              <a:rPr lang="en-US" sz="1300" dirty="0">
                <a:solidFill>
                  <a:srgbClr val="1E1E1E"/>
                </a:solidFill>
              </a:rPr>
              <a:t>Houston Methodist found that SVI was the strongest predictor of major adverse cardiovascular events (MACE) in their integrated health system—stronger than clinical risk scores alone. Highest SVI quartile had 68% increased risk of MACE within 2 years.</a:t>
            </a:r>
            <a:endParaRPr lang="en-US" sz="1300" dirty="0"/>
          </a:p>
        </p:txBody>
      </p:sp>
      <p:sp>
        <p:nvSpPr>
          <p:cNvPr id="9" name="Text 7"/>
          <p:cNvSpPr/>
          <p:nvPr/>
        </p:nvSpPr>
        <p:spPr>
          <a:xfrm>
            <a:off x="457200" y="2834640"/>
            <a:ext cx="8229600" cy="274320"/>
          </a:xfrm>
          <a:prstGeom prst="rect">
            <a:avLst/>
          </a:prstGeom>
          <a:noFill/>
          <a:ln/>
        </p:spPr>
        <p:txBody>
          <a:bodyPr wrap="square" rtlCol="0" anchor="ctr"/>
          <a:lstStyle/>
          <a:p>
            <a:pPr indent="0" marL="0">
              <a:buNone/>
            </a:pPr>
            <a:r>
              <a:rPr lang="en-US" sz="1400" b="1" dirty="0">
                <a:solidFill>
                  <a:srgbClr val="003359"/>
                </a:solidFill>
              </a:rPr>
              <a:t>SVI Predicted Gaps Across Entire CVD Care Continuum:</a:t>
            </a:r>
            <a:endParaRPr lang="en-US" sz="1400" dirty="0"/>
          </a:p>
        </p:txBody>
      </p:sp>
      <p:sp>
        <p:nvSpPr>
          <p:cNvPr id="10" name="Shape 8"/>
          <p:cNvSpPr/>
          <p:nvPr/>
        </p:nvSpPr>
        <p:spPr>
          <a:xfrm>
            <a:off x="457200" y="3291840"/>
            <a:ext cx="2103120" cy="1371600"/>
          </a:xfrm>
          <a:prstGeom prst="rect">
            <a:avLst/>
          </a:prstGeom>
          <a:solidFill>
            <a:srgbClr val="FFFFFF"/>
          </a:solidFill>
          <a:ln/>
        </p:spPr>
      </p:sp>
      <p:sp>
        <p:nvSpPr>
          <p:cNvPr id="11" name="Text 9"/>
          <p:cNvSpPr/>
          <p:nvPr/>
        </p:nvSpPr>
        <p:spPr>
          <a:xfrm>
            <a:off x="594360" y="3429000"/>
            <a:ext cx="1828800" cy="228600"/>
          </a:xfrm>
          <a:prstGeom prst="rect">
            <a:avLst/>
          </a:prstGeom>
          <a:noFill/>
          <a:ln/>
        </p:spPr>
        <p:txBody>
          <a:bodyPr wrap="square" rtlCol="0" anchor="ctr"/>
          <a:lstStyle/>
          <a:p>
            <a:pPr indent="0" marL="0">
              <a:buNone/>
            </a:pPr>
            <a:r>
              <a:rPr lang="en-US" sz="1300" b="1" dirty="0">
                <a:solidFill>
                  <a:srgbClr val="0094D7"/>
                </a:solidFill>
              </a:rPr>
              <a:t>Prevention</a:t>
            </a:r>
            <a:endParaRPr lang="en-US" sz="1300" dirty="0"/>
          </a:p>
        </p:txBody>
      </p:sp>
      <p:sp>
        <p:nvSpPr>
          <p:cNvPr id="12" name="Text 10"/>
          <p:cNvSpPr/>
          <p:nvPr/>
        </p:nvSpPr>
        <p:spPr>
          <a:xfrm>
            <a:off x="594360" y="3703320"/>
            <a:ext cx="1828800" cy="365760"/>
          </a:xfrm>
          <a:prstGeom prst="rect">
            <a:avLst/>
          </a:prstGeom>
          <a:noFill/>
          <a:ln/>
        </p:spPr>
        <p:txBody>
          <a:bodyPr wrap="square" rtlCol="0" anchor="ctr"/>
          <a:lstStyle/>
          <a:p>
            <a:pPr indent="0" marL="0">
              <a:buNone/>
            </a:pPr>
            <a:r>
              <a:rPr lang="en-US" sz="1100" dirty="0">
                <a:solidFill>
                  <a:srgbClr val="1E1E1E"/>
                </a:solidFill>
              </a:rPr>
              <a:t>Lower screening rates</a:t>
            </a:r>
            <a:endParaRPr lang="en-US" sz="1100" dirty="0"/>
          </a:p>
        </p:txBody>
      </p:sp>
      <p:sp>
        <p:nvSpPr>
          <p:cNvPr id="13" name="Shape 11"/>
          <p:cNvSpPr/>
          <p:nvPr/>
        </p:nvSpPr>
        <p:spPr>
          <a:xfrm>
            <a:off x="457200" y="4297680"/>
            <a:ext cx="2103120" cy="365760"/>
          </a:xfrm>
          <a:prstGeom prst="rect">
            <a:avLst/>
          </a:prstGeom>
          <a:solidFill>
            <a:srgbClr val="0094D7"/>
          </a:solidFill>
          <a:ln/>
        </p:spPr>
      </p:sp>
      <p:sp>
        <p:nvSpPr>
          <p:cNvPr id="14" name="Text 12"/>
          <p:cNvSpPr/>
          <p:nvPr/>
        </p:nvSpPr>
        <p:spPr>
          <a:xfrm>
            <a:off x="594360" y="4389120"/>
            <a:ext cx="1828800" cy="182880"/>
          </a:xfrm>
          <a:prstGeom prst="rect">
            <a:avLst/>
          </a:prstGeom>
          <a:noFill/>
          <a:ln/>
        </p:spPr>
        <p:txBody>
          <a:bodyPr wrap="square" rtlCol="0" anchor="ctr"/>
          <a:lstStyle/>
          <a:p>
            <a:pPr algn="ctr" indent="0" marL="0">
              <a:buNone/>
            </a:pPr>
            <a:r>
              <a:rPr lang="en-US" sz="1200" b="1" dirty="0">
                <a:solidFill>
                  <a:srgbClr val="FFFFFF"/>
                </a:solidFill>
              </a:rPr>
              <a:t>35% less likely</a:t>
            </a:r>
            <a:endParaRPr lang="en-US" sz="1200" dirty="0"/>
          </a:p>
        </p:txBody>
      </p:sp>
      <p:sp>
        <p:nvSpPr>
          <p:cNvPr id="15" name="Shape 13"/>
          <p:cNvSpPr/>
          <p:nvPr/>
        </p:nvSpPr>
        <p:spPr>
          <a:xfrm>
            <a:off x="2651760" y="3291840"/>
            <a:ext cx="2103120" cy="1371600"/>
          </a:xfrm>
          <a:prstGeom prst="rect">
            <a:avLst/>
          </a:prstGeom>
          <a:solidFill>
            <a:srgbClr val="FFFFFF"/>
          </a:solidFill>
          <a:ln/>
        </p:spPr>
      </p:sp>
      <p:sp>
        <p:nvSpPr>
          <p:cNvPr id="16" name="Text 14"/>
          <p:cNvSpPr/>
          <p:nvPr/>
        </p:nvSpPr>
        <p:spPr>
          <a:xfrm>
            <a:off x="2788920" y="3429000"/>
            <a:ext cx="1828800" cy="228600"/>
          </a:xfrm>
          <a:prstGeom prst="rect">
            <a:avLst/>
          </a:prstGeom>
          <a:noFill/>
          <a:ln/>
        </p:spPr>
        <p:txBody>
          <a:bodyPr wrap="square" rtlCol="0" anchor="ctr"/>
          <a:lstStyle/>
          <a:p>
            <a:pPr indent="0" marL="0">
              <a:buNone/>
            </a:pPr>
            <a:r>
              <a:rPr lang="en-US" sz="1300" b="1" dirty="0">
                <a:solidFill>
                  <a:srgbClr val="0094D7"/>
                </a:solidFill>
              </a:rPr>
              <a:t>Diagnosis</a:t>
            </a:r>
            <a:endParaRPr lang="en-US" sz="1300" dirty="0"/>
          </a:p>
        </p:txBody>
      </p:sp>
      <p:sp>
        <p:nvSpPr>
          <p:cNvPr id="17" name="Text 15"/>
          <p:cNvSpPr/>
          <p:nvPr/>
        </p:nvSpPr>
        <p:spPr>
          <a:xfrm>
            <a:off x="2788920" y="3703320"/>
            <a:ext cx="1828800" cy="365760"/>
          </a:xfrm>
          <a:prstGeom prst="rect">
            <a:avLst/>
          </a:prstGeom>
          <a:noFill/>
          <a:ln/>
        </p:spPr>
        <p:txBody>
          <a:bodyPr wrap="square" rtlCol="0" anchor="ctr"/>
          <a:lstStyle/>
          <a:p>
            <a:pPr indent="0" marL="0">
              <a:buNone/>
            </a:pPr>
            <a:r>
              <a:rPr lang="en-US" sz="1100" dirty="0">
                <a:solidFill>
                  <a:srgbClr val="1E1E1E"/>
                </a:solidFill>
              </a:rPr>
              <a:t>Delayed presentation</a:t>
            </a:r>
            <a:endParaRPr lang="en-US" sz="1100" dirty="0"/>
          </a:p>
        </p:txBody>
      </p:sp>
      <p:sp>
        <p:nvSpPr>
          <p:cNvPr id="18" name="Shape 16"/>
          <p:cNvSpPr/>
          <p:nvPr/>
        </p:nvSpPr>
        <p:spPr>
          <a:xfrm>
            <a:off x="2651760" y="4297680"/>
            <a:ext cx="2103120" cy="365760"/>
          </a:xfrm>
          <a:prstGeom prst="rect">
            <a:avLst/>
          </a:prstGeom>
          <a:solidFill>
            <a:srgbClr val="0094D7"/>
          </a:solidFill>
          <a:ln/>
        </p:spPr>
      </p:sp>
      <p:sp>
        <p:nvSpPr>
          <p:cNvPr id="19" name="Text 17"/>
          <p:cNvSpPr/>
          <p:nvPr/>
        </p:nvSpPr>
        <p:spPr>
          <a:xfrm>
            <a:off x="2788920" y="4389120"/>
            <a:ext cx="1828800" cy="182880"/>
          </a:xfrm>
          <a:prstGeom prst="rect">
            <a:avLst/>
          </a:prstGeom>
          <a:noFill/>
          <a:ln/>
        </p:spPr>
        <p:txBody>
          <a:bodyPr wrap="square" rtlCol="0" anchor="ctr"/>
          <a:lstStyle/>
          <a:p>
            <a:pPr algn="ctr" indent="0" marL="0">
              <a:buNone/>
            </a:pPr>
            <a:r>
              <a:rPr lang="en-US" sz="1200" b="1" dirty="0">
                <a:solidFill>
                  <a:srgbClr val="FFFFFF"/>
                </a:solidFill>
              </a:rPr>
              <a:t>2x longer to care</a:t>
            </a:r>
            <a:endParaRPr lang="en-US" sz="1200" dirty="0"/>
          </a:p>
        </p:txBody>
      </p:sp>
      <p:sp>
        <p:nvSpPr>
          <p:cNvPr id="20" name="Shape 18"/>
          <p:cNvSpPr/>
          <p:nvPr/>
        </p:nvSpPr>
        <p:spPr>
          <a:xfrm>
            <a:off x="4846320" y="3291840"/>
            <a:ext cx="2103120" cy="1371600"/>
          </a:xfrm>
          <a:prstGeom prst="rect">
            <a:avLst/>
          </a:prstGeom>
          <a:solidFill>
            <a:srgbClr val="FFFFFF"/>
          </a:solidFill>
          <a:ln/>
        </p:spPr>
      </p:sp>
      <p:sp>
        <p:nvSpPr>
          <p:cNvPr id="21" name="Text 19"/>
          <p:cNvSpPr/>
          <p:nvPr/>
        </p:nvSpPr>
        <p:spPr>
          <a:xfrm>
            <a:off x="4983480" y="3429000"/>
            <a:ext cx="1828800" cy="228600"/>
          </a:xfrm>
          <a:prstGeom prst="rect">
            <a:avLst/>
          </a:prstGeom>
          <a:noFill/>
          <a:ln/>
        </p:spPr>
        <p:txBody>
          <a:bodyPr wrap="square" rtlCol="0" anchor="ctr"/>
          <a:lstStyle/>
          <a:p>
            <a:pPr indent="0" marL="0">
              <a:buNone/>
            </a:pPr>
            <a:r>
              <a:rPr lang="en-US" sz="1300" b="1" dirty="0">
                <a:solidFill>
                  <a:srgbClr val="0094D7"/>
                </a:solidFill>
              </a:rPr>
              <a:t>Treatment</a:t>
            </a:r>
            <a:endParaRPr lang="en-US" sz="1300" dirty="0"/>
          </a:p>
        </p:txBody>
      </p:sp>
      <p:sp>
        <p:nvSpPr>
          <p:cNvPr id="22" name="Text 20"/>
          <p:cNvSpPr/>
          <p:nvPr/>
        </p:nvSpPr>
        <p:spPr>
          <a:xfrm>
            <a:off x="4983480" y="3703320"/>
            <a:ext cx="1828800" cy="365760"/>
          </a:xfrm>
          <a:prstGeom prst="rect">
            <a:avLst/>
          </a:prstGeom>
          <a:noFill/>
          <a:ln/>
        </p:spPr>
        <p:txBody>
          <a:bodyPr wrap="square" rtlCol="0" anchor="ctr"/>
          <a:lstStyle/>
          <a:p>
            <a:pPr indent="0" marL="0">
              <a:buNone/>
            </a:pPr>
            <a:r>
              <a:rPr lang="en-US" sz="1100" dirty="0">
                <a:solidFill>
                  <a:srgbClr val="1E1E1E"/>
                </a:solidFill>
              </a:rPr>
              <a:t>Medication non-adherence</a:t>
            </a:r>
            <a:endParaRPr lang="en-US" sz="1100" dirty="0"/>
          </a:p>
        </p:txBody>
      </p:sp>
      <p:sp>
        <p:nvSpPr>
          <p:cNvPr id="23" name="Shape 21"/>
          <p:cNvSpPr/>
          <p:nvPr/>
        </p:nvSpPr>
        <p:spPr>
          <a:xfrm>
            <a:off x="4846320" y="4297680"/>
            <a:ext cx="2103120" cy="365760"/>
          </a:xfrm>
          <a:prstGeom prst="rect">
            <a:avLst/>
          </a:prstGeom>
          <a:solidFill>
            <a:srgbClr val="0094D7"/>
          </a:solidFill>
          <a:ln/>
        </p:spPr>
      </p:sp>
      <p:sp>
        <p:nvSpPr>
          <p:cNvPr id="24" name="Text 22"/>
          <p:cNvSpPr/>
          <p:nvPr/>
        </p:nvSpPr>
        <p:spPr>
          <a:xfrm>
            <a:off x="4983480" y="4389120"/>
            <a:ext cx="1828800" cy="182880"/>
          </a:xfrm>
          <a:prstGeom prst="rect">
            <a:avLst/>
          </a:prstGeom>
          <a:noFill/>
          <a:ln/>
        </p:spPr>
        <p:txBody>
          <a:bodyPr wrap="square" rtlCol="0" anchor="ctr"/>
          <a:lstStyle/>
          <a:p>
            <a:pPr algn="ctr" indent="0" marL="0">
              <a:buNone/>
            </a:pPr>
            <a:r>
              <a:rPr lang="en-US" sz="1200" b="1" dirty="0">
                <a:solidFill>
                  <a:srgbClr val="FFFFFF"/>
                </a:solidFill>
              </a:rPr>
              <a:t>48% non-compliance</a:t>
            </a:r>
            <a:endParaRPr lang="en-US" sz="1200" dirty="0"/>
          </a:p>
        </p:txBody>
      </p:sp>
      <p:sp>
        <p:nvSpPr>
          <p:cNvPr id="25" name="Shape 23"/>
          <p:cNvSpPr/>
          <p:nvPr/>
        </p:nvSpPr>
        <p:spPr>
          <a:xfrm>
            <a:off x="7040880" y="3291840"/>
            <a:ext cx="2103120" cy="1371600"/>
          </a:xfrm>
          <a:prstGeom prst="rect">
            <a:avLst/>
          </a:prstGeom>
          <a:solidFill>
            <a:srgbClr val="FFFFFF"/>
          </a:solidFill>
          <a:ln/>
        </p:spPr>
      </p:sp>
      <p:sp>
        <p:nvSpPr>
          <p:cNvPr id="26" name="Text 24"/>
          <p:cNvSpPr/>
          <p:nvPr/>
        </p:nvSpPr>
        <p:spPr>
          <a:xfrm>
            <a:off x="7178040" y="3429000"/>
            <a:ext cx="1828800" cy="228600"/>
          </a:xfrm>
          <a:prstGeom prst="rect">
            <a:avLst/>
          </a:prstGeom>
          <a:noFill/>
          <a:ln/>
        </p:spPr>
        <p:txBody>
          <a:bodyPr wrap="square" rtlCol="0" anchor="ctr"/>
          <a:lstStyle/>
          <a:p>
            <a:pPr indent="0" marL="0">
              <a:buNone/>
            </a:pPr>
            <a:r>
              <a:rPr lang="en-US" sz="1300" b="1" dirty="0">
                <a:solidFill>
                  <a:srgbClr val="0094D7"/>
                </a:solidFill>
              </a:rPr>
              <a:t>Follow-up</a:t>
            </a:r>
            <a:endParaRPr lang="en-US" sz="1300" dirty="0"/>
          </a:p>
        </p:txBody>
      </p:sp>
      <p:sp>
        <p:nvSpPr>
          <p:cNvPr id="27" name="Text 25"/>
          <p:cNvSpPr/>
          <p:nvPr/>
        </p:nvSpPr>
        <p:spPr>
          <a:xfrm>
            <a:off x="7178040" y="3703320"/>
            <a:ext cx="1828800" cy="365760"/>
          </a:xfrm>
          <a:prstGeom prst="rect">
            <a:avLst/>
          </a:prstGeom>
          <a:noFill/>
          <a:ln/>
        </p:spPr>
        <p:txBody>
          <a:bodyPr wrap="square" rtlCol="0" anchor="ctr"/>
          <a:lstStyle/>
          <a:p>
            <a:pPr indent="0" marL="0">
              <a:buNone/>
            </a:pPr>
            <a:r>
              <a:rPr lang="en-US" sz="1100" dirty="0">
                <a:solidFill>
                  <a:srgbClr val="1E1E1E"/>
                </a:solidFill>
              </a:rPr>
              <a:t>Missed appointments</a:t>
            </a:r>
            <a:endParaRPr lang="en-US" sz="1100" dirty="0"/>
          </a:p>
        </p:txBody>
      </p:sp>
      <p:sp>
        <p:nvSpPr>
          <p:cNvPr id="28" name="Shape 26"/>
          <p:cNvSpPr/>
          <p:nvPr/>
        </p:nvSpPr>
        <p:spPr>
          <a:xfrm>
            <a:off x="7040880" y="4297680"/>
            <a:ext cx="2103120" cy="365760"/>
          </a:xfrm>
          <a:prstGeom prst="rect">
            <a:avLst/>
          </a:prstGeom>
          <a:solidFill>
            <a:srgbClr val="0094D7"/>
          </a:solidFill>
          <a:ln/>
        </p:spPr>
      </p:sp>
      <p:sp>
        <p:nvSpPr>
          <p:cNvPr id="29" name="Text 27"/>
          <p:cNvSpPr/>
          <p:nvPr/>
        </p:nvSpPr>
        <p:spPr>
          <a:xfrm>
            <a:off x="7178040" y="4389120"/>
            <a:ext cx="1828800" cy="182880"/>
          </a:xfrm>
          <a:prstGeom prst="rect">
            <a:avLst/>
          </a:prstGeom>
          <a:noFill/>
          <a:ln/>
        </p:spPr>
        <p:txBody>
          <a:bodyPr wrap="square" rtlCol="0" anchor="ctr"/>
          <a:lstStyle/>
          <a:p>
            <a:pPr algn="ctr" indent="0" marL="0">
              <a:buNone/>
            </a:pPr>
            <a:r>
              <a:rPr lang="en-US" sz="1200" b="1" dirty="0">
                <a:solidFill>
                  <a:srgbClr val="FFFFFF"/>
                </a:solidFill>
              </a:rPr>
              <a:t>55% no-show rate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lIns="0" tIns="0" rIns="0" bIns="0" rtlCol="0" anchor="ctr"/>
          <a:lstStyle/>
          <a:p>
            <a:pPr indent="0" marL="0">
              <a:buNone/>
            </a:pPr>
            <a:r>
              <a:rPr lang="en-US" sz="3200" b="1" dirty="0">
                <a:solidFill>
                  <a:srgbClr val="003359"/>
                </a:solidFill>
              </a:rPr>
              <a:t>Research Application #4</a:t>
            </a:r>
            <a:endParaRPr lang="en-US" sz="3200" dirty="0"/>
          </a:p>
        </p:txBody>
      </p:sp>
      <p:sp>
        <p:nvSpPr>
          <p:cNvPr id="3" name="Text 1"/>
          <p:cNvSpPr/>
          <p:nvPr/>
        </p:nvSpPr>
        <p:spPr>
          <a:xfrm>
            <a:off x="457200" y="731520"/>
            <a:ext cx="8229600" cy="320040"/>
          </a:xfrm>
          <a:prstGeom prst="rect">
            <a:avLst/>
          </a:prstGeom>
          <a:noFill/>
          <a:ln/>
        </p:spPr>
        <p:txBody>
          <a:bodyPr wrap="square" rtlCol="0" anchor="ctr"/>
          <a:lstStyle/>
          <a:p>
            <a:pPr indent="0" marL="0">
              <a:buNone/>
            </a:pPr>
            <a:r>
              <a:rPr lang="en-US" sz="2400" dirty="0">
                <a:solidFill>
                  <a:srgbClr val="0094D7"/>
                </a:solidFill>
              </a:rPr>
              <a:t>Walkability Indicators &amp; Health Outcomes</a:t>
            </a:r>
            <a:endParaRPr lang="en-US" sz="2400" dirty="0"/>
          </a:p>
        </p:txBody>
      </p:sp>
      <p:sp>
        <p:nvSpPr>
          <p:cNvPr id="4" name="Text 2"/>
          <p:cNvSpPr/>
          <p:nvPr/>
        </p:nvSpPr>
        <p:spPr>
          <a:xfrm>
            <a:off x="457200" y="1097280"/>
            <a:ext cx="8229600" cy="182880"/>
          </a:xfrm>
          <a:prstGeom prst="rect">
            <a:avLst/>
          </a:prstGeom>
          <a:noFill/>
          <a:ln/>
        </p:spPr>
        <p:txBody>
          <a:bodyPr wrap="square" rtlCol="0" anchor="ctr"/>
          <a:lstStyle/>
          <a:p>
            <a:pPr indent="0" marL="0">
              <a:buNone/>
            </a:pPr>
            <a:r>
              <a:rPr lang="en-US" sz="1100" i="1" dirty="0">
                <a:solidFill>
                  <a:srgbClr val="64748B"/>
                </a:solidFill>
              </a:rPr>
              <a:t>Source: Wedyan &amp; Saeidi-Rizi (2025) | Travel Behaviour and Society | Machine Learning Analysis</a:t>
            </a:r>
            <a:endParaRPr lang="en-US" sz="1100" dirty="0"/>
          </a:p>
        </p:txBody>
      </p:sp>
      <p:sp>
        <p:nvSpPr>
          <p:cNvPr id="5" name="Shape 3"/>
          <p:cNvSpPr/>
          <p:nvPr/>
        </p:nvSpPr>
        <p:spPr>
          <a:xfrm>
            <a:off x="457200" y="1463040"/>
            <a:ext cx="8229600" cy="1188720"/>
          </a:xfrm>
          <a:prstGeom prst="rect">
            <a:avLst/>
          </a:prstGeom>
          <a:solidFill>
            <a:srgbClr val="BED6DB"/>
          </a:solidFill>
          <a:ln/>
        </p:spPr>
      </p:sp>
      <p:sp>
        <p:nvSpPr>
          <p:cNvPr id="6" name="Shape 4"/>
          <p:cNvSpPr/>
          <p:nvPr/>
        </p:nvSpPr>
        <p:spPr>
          <a:xfrm>
            <a:off x="457200" y="1463040"/>
            <a:ext cx="73152" cy="1188720"/>
          </a:xfrm>
          <a:prstGeom prst="rect">
            <a:avLst/>
          </a:prstGeom>
          <a:solidFill>
            <a:srgbClr val="0094D7"/>
          </a:solidFill>
          <a:ln/>
        </p:spPr>
      </p:sp>
      <p:sp>
        <p:nvSpPr>
          <p:cNvPr id="7" name="Text 5"/>
          <p:cNvSpPr/>
          <p:nvPr/>
        </p:nvSpPr>
        <p:spPr>
          <a:xfrm>
            <a:off x="731520" y="1600200"/>
            <a:ext cx="7772400" cy="228600"/>
          </a:xfrm>
          <a:prstGeom prst="rect">
            <a:avLst/>
          </a:prstGeom>
          <a:noFill/>
          <a:ln/>
        </p:spPr>
        <p:txBody>
          <a:bodyPr wrap="square" rtlCol="0" anchor="ctr"/>
          <a:lstStyle/>
          <a:p>
            <a:pPr indent="0" marL="0">
              <a:buNone/>
            </a:pPr>
            <a:r>
              <a:rPr lang="en-US" sz="1400" b="1" dirty="0">
                <a:solidFill>
                  <a:srgbClr val="0094D7"/>
                </a:solidFill>
              </a:rPr>
              <a:t>Key Finding</a:t>
            </a:r>
            <a:endParaRPr lang="en-US" sz="1400" dirty="0"/>
          </a:p>
        </p:txBody>
      </p:sp>
      <p:sp>
        <p:nvSpPr>
          <p:cNvPr id="8" name="Text 6"/>
          <p:cNvSpPr/>
          <p:nvPr/>
        </p:nvSpPr>
        <p:spPr>
          <a:xfrm>
            <a:off x="731520" y="1874520"/>
            <a:ext cx="7772400" cy="640080"/>
          </a:xfrm>
          <a:prstGeom prst="rect">
            <a:avLst/>
          </a:prstGeom>
          <a:noFill/>
          <a:ln/>
        </p:spPr>
        <p:txBody>
          <a:bodyPr wrap="square" rtlCol="0" anchor="ctr"/>
          <a:lstStyle/>
          <a:p>
            <a:pPr indent="0" marL="0">
              <a:buNone/>
            </a:pPr>
            <a:r>
              <a:rPr lang="en-US" sz="1300" dirty="0">
                <a:solidFill>
                  <a:srgbClr val="1E1E1E"/>
                </a:solidFill>
              </a:rPr>
              <a:t>Using Random Forest ML on Michigan data, intersection density emerged as the most significant walkability predictor across health outcomes (obesity, BP, cholesterol, depression, mental health). However, SVI socioeconomic factors—especially poverty (EP_POV150) and minority status—were stronger predictors than walkability indicators alone.</a:t>
            </a:r>
            <a:endParaRPr lang="en-US" sz="1300" dirty="0"/>
          </a:p>
        </p:txBody>
      </p:sp>
      <p:sp>
        <p:nvSpPr>
          <p:cNvPr id="9" name="Shape 7"/>
          <p:cNvSpPr/>
          <p:nvPr/>
        </p:nvSpPr>
        <p:spPr>
          <a:xfrm>
            <a:off x="457200" y="2834640"/>
            <a:ext cx="4023360" cy="1920240"/>
          </a:xfrm>
          <a:prstGeom prst="rect">
            <a:avLst/>
          </a:prstGeom>
          <a:solidFill>
            <a:srgbClr val="FFFFFF"/>
          </a:solidFill>
          <a:ln/>
        </p:spPr>
      </p:sp>
      <p:sp>
        <p:nvSpPr>
          <p:cNvPr id="10" name="Text 8"/>
          <p:cNvSpPr/>
          <p:nvPr/>
        </p:nvSpPr>
        <p:spPr>
          <a:xfrm>
            <a:off x="640080" y="3017520"/>
            <a:ext cx="3657600" cy="274320"/>
          </a:xfrm>
          <a:prstGeom prst="rect">
            <a:avLst/>
          </a:prstGeom>
          <a:noFill/>
          <a:ln/>
        </p:spPr>
        <p:txBody>
          <a:bodyPr wrap="square" rtlCol="0" anchor="ctr"/>
          <a:lstStyle/>
          <a:p>
            <a:pPr indent="0" marL="0">
              <a:buNone/>
            </a:pPr>
            <a:r>
              <a:rPr lang="en-US" sz="1500" b="1" dirty="0">
                <a:solidFill>
                  <a:srgbClr val="003359"/>
                </a:solidFill>
              </a:rPr>
              <a:t>Methodology</a:t>
            </a:r>
            <a:endParaRPr lang="en-US" sz="1500" dirty="0"/>
          </a:p>
        </p:txBody>
      </p:sp>
      <p:sp>
        <p:nvSpPr>
          <p:cNvPr id="11" name="Text 9"/>
          <p:cNvSpPr/>
          <p:nvPr/>
        </p:nvSpPr>
        <p:spPr>
          <a:xfrm>
            <a:off x="822960" y="3383280"/>
            <a:ext cx="3474720" cy="1188720"/>
          </a:xfrm>
          <a:prstGeom prst="rect">
            <a:avLst/>
          </a:prstGeom>
          <a:noFill/>
          <a:ln/>
        </p:spPr>
        <p:txBody>
          <a:bodyPr wrap="square" rtlCol="0" anchor="ctr"/>
          <a:lstStyle/>
          <a:p>
            <a:pPr marL="342900" indent="-342900">
              <a:buSzPct val="100000"/>
              <a:buChar char="•"/>
            </a:pPr>
            <a:r>
              <a:rPr lang="en-US" sz="1100" dirty="0">
                <a:solidFill>
                  <a:srgbClr val="1E1E1E"/>
                </a:solidFill>
              </a:rPr>
              <a:t>Random Forest (R² up to 0.86 for blood pressure)</a:t>
            </a:r>
            <a:endParaRPr lang="en-US" sz="1100" dirty="0"/>
          </a:p>
          <a:p>
            <a:pPr marL="342900" indent="-342900">
              <a:buSzPct val="100000"/>
              <a:buChar char="•"/>
            </a:pPr>
            <a:r>
              <a:rPr lang="en-US" sz="1100" dirty="0">
                <a:solidFill>
                  <a:srgbClr val="1E1E1E"/>
                </a:solidFill>
              </a:rPr>
              <a:t>EPA National Walkability Index: intersection density, transit, employment mix</a:t>
            </a:r>
            <a:endParaRPr lang="en-US" sz="1100" dirty="0"/>
          </a:p>
          <a:p>
            <a:pPr marL="342900" indent="-342900">
              <a:buSzPct val="100000"/>
              <a:buChar char="•"/>
            </a:pPr>
            <a:r>
              <a:rPr lang="en-US" sz="1100" dirty="0">
                <a:solidFill>
                  <a:srgbClr val="1E1E1E"/>
                </a:solidFill>
              </a:rPr>
              <a:t>CDC PLACES health data: obesity, BP, cholesterol, depression, mental health</a:t>
            </a:r>
            <a:endParaRPr lang="en-US" sz="1100" dirty="0"/>
          </a:p>
          <a:p>
            <a:pPr marL="342900" indent="-342900">
              <a:buSzPct val="100000"/>
              <a:buChar char="•"/>
            </a:pPr>
            <a:r>
              <a:rPr lang="en-US" sz="1100" dirty="0">
                <a:solidFill>
                  <a:srgbClr val="1E1E1E"/>
                </a:solidFill>
              </a:rPr>
              <a:t>Integrated SVI: poverty, minority status, disability, language, transportation</a:t>
            </a:r>
            <a:endParaRPr lang="en-US" sz="1100" dirty="0"/>
          </a:p>
        </p:txBody>
      </p:sp>
      <p:sp>
        <p:nvSpPr>
          <p:cNvPr id="12" name="Shape 10"/>
          <p:cNvSpPr/>
          <p:nvPr/>
        </p:nvSpPr>
        <p:spPr>
          <a:xfrm>
            <a:off x="4663440" y="2834640"/>
            <a:ext cx="4023360" cy="1920240"/>
          </a:xfrm>
          <a:prstGeom prst="rect">
            <a:avLst/>
          </a:prstGeom>
          <a:solidFill>
            <a:srgbClr val="BED6DB"/>
          </a:solidFill>
          <a:ln/>
        </p:spPr>
      </p:sp>
      <p:sp>
        <p:nvSpPr>
          <p:cNvPr id="13" name="Text 11"/>
          <p:cNvSpPr/>
          <p:nvPr/>
        </p:nvSpPr>
        <p:spPr>
          <a:xfrm>
            <a:off x="4846320" y="3017520"/>
            <a:ext cx="3657600" cy="274320"/>
          </a:xfrm>
          <a:prstGeom prst="rect">
            <a:avLst/>
          </a:prstGeom>
          <a:noFill/>
          <a:ln/>
        </p:spPr>
        <p:txBody>
          <a:bodyPr wrap="square" rtlCol="0" anchor="ctr"/>
          <a:lstStyle/>
          <a:p>
            <a:pPr indent="0" marL="0">
              <a:buNone/>
            </a:pPr>
            <a:r>
              <a:rPr lang="en-US" sz="1500" b="1" dirty="0">
                <a:solidFill>
                  <a:srgbClr val="003359"/>
                </a:solidFill>
              </a:rPr>
              <a:t>Application for Our Tool</a:t>
            </a:r>
            <a:endParaRPr lang="en-US" sz="1500" dirty="0"/>
          </a:p>
        </p:txBody>
      </p:sp>
      <p:sp>
        <p:nvSpPr>
          <p:cNvPr id="14" name="Text 12"/>
          <p:cNvSpPr/>
          <p:nvPr/>
        </p:nvSpPr>
        <p:spPr>
          <a:xfrm>
            <a:off x="4846320" y="3383280"/>
            <a:ext cx="3657600" cy="1188720"/>
          </a:xfrm>
          <a:prstGeom prst="rect">
            <a:avLst/>
          </a:prstGeom>
          <a:noFill/>
          <a:ln/>
        </p:spPr>
        <p:txBody>
          <a:bodyPr wrap="square" rtlCol="0" anchor="ctr"/>
          <a:lstStyle/>
          <a:p>
            <a:pPr marL="342900" indent="-342900">
              <a:buSzPct val="100000"/>
              <a:buChar char="•"/>
            </a:pPr>
            <a:r>
              <a:rPr lang="en-US" sz="1100" dirty="0">
                <a:solidFill>
                  <a:srgbClr val="1E1E1E"/>
                </a:solidFill>
              </a:rPr>
              <a:t>Confirms SVI themes stronger than walkability alone for predicting health</a:t>
            </a:r>
            <a:endParaRPr lang="en-US" sz="1100" dirty="0"/>
          </a:p>
          <a:p>
            <a:pPr marL="342900" indent="-342900">
              <a:buSzPct val="100000"/>
              <a:buChar char="•"/>
            </a:pPr>
            <a:r>
              <a:rPr lang="en-US" sz="1100" dirty="0">
                <a:solidFill>
                  <a:srgbClr val="1E1E1E"/>
                </a:solidFill>
              </a:rPr>
              <a:t>Prioritize EP_POV150 &gt;30% areas for intensive outreach (3-5x resources)</a:t>
            </a:r>
            <a:endParaRPr lang="en-US" sz="1100" dirty="0"/>
          </a:p>
          <a:p>
            <a:pPr marL="342900" indent="-342900">
              <a:buSzPct val="100000"/>
              <a:buChar char="•"/>
            </a:pPr>
            <a:r>
              <a:rPr lang="en-US" sz="1100" dirty="0">
                <a:solidFill>
                  <a:srgbClr val="1E1E1E"/>
                </a:solidFill>
              </a:rPr>
              <a:t>Use intersection density as proxy for walkable built environment</a:t>
            </a:r>
            <a:endParaRPr lang="en-US" sz="1100" dirty="0"/>
          </a:p>
          <a:p>
            <a:pPr marL="342900" indent="-342900">
              <a:buSzPct val="100000"/>
              <a:buChar char="•"/>
            </a:pPr>
            <a:r>
              <a:rPr lang="en-US" sz="1100" dirty="0">
                <a:solidFill>
                  <a:srgbClr val="1E1E1E"/>
                </a:solidFill>
              </a:rPr>
              <a:t>Combine walkability + SVI for holistic vulnerability assessment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4000" b="1" dirty="0">
                <a:solidFill>
                  <a:srgbClr val="003359"/>
                </a:solidFill>
              </a:rPr>
              <a:t>Implementation Roadmap</a:t>
            </a:r>
            <a:endParaRPr lang="en-US" sz="4000" dirty="0"/>
          </a:p>
        </p:txBody>
      </p:sp>
      <p:sp>
        <p:nvSpPr>
          <p:cNvPr id="3" name="Shape 1"/>
          <p:cNvSpPr/>
          <p:nvPr/>
        </p:nvSpPr>
        <p:spPr>
          <a:xfrm>
            <a:off x="457200" y="1188720"/>
            <a:ext cx="8229600" cy="822960"/>
          </a:xfrm>
          <a:prstGeom prst="rect">
            <a:avLst/>
          </a:prstGeom>
          <a:solidFill>
            <a:srgbClr val="BED6DB"/>
          </a:solidFill>
          <a:ln/>
        </p:spPr>
      </p:sp>
      <p:sp>
        <p:nvSpPr>
          <p:cNvPr id="4" name="Shape 2"/>
          <p:cNvSpPr/>
          <p:nvPr/>
        </p:nvSpPr>
        <p:spPr>
          <a:xfrm>
            <a:off x="640080" y="1417320"/>
            <a:ext cx="365760" cy="365760"/>
          </a:xfrm>
          <a:prstGeom prst="ellipse">
            <a:avLst/>
          </a:prstGeom>
          <a:solidFill>
            <a:srgbClr val="0094D7"/>
          </a:solidFill>
          <a:ln/>
        </p:spPr>
      </p:sp>
      <p:sp>
        <p:nvSpPr>
          <p:cNvPr id="5" name="Text 3"/>
          <p:cNvSpPr/>
          <p:nvPr/>
        </p:nvSpPr>
        <p:spPr>
          <a:xfrm>
            <a:off x="640080" y="1417320"/>
            <a:ext cx="365760" cy="36576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6" name="Text 4"/>
          <p:cNvSpPr/>
          <p:nvPr/>
        </p:nvSpPr>
        <p:spPr>
          <a:xfrm>
            <a:off x="1188720" y="1325880"/>
            <a:ext cx="2286000" cy="228600"/>
          </a:xfrm>
          <a:prstGeom prst="rect">
            <a:avLst/>
          </a:prstGeom>
          <a:noFill/>
          <a:ln/>
        </p:spPr>
        <p:txBody>
          <a:bodyPr wrap="square" rtlCol="0" anchor="ctr"/>
          <a:lstStyle/>
          <a:p>
            <a:pPr indent="0" marL="0">
              <a:buNone/>
            </a:pPr>
            <a:r>
              <a:rPr lang="en-US" sz="1500" b="1" dirty="0">
                <a:solidFill>
                  <a:srgbClr val="003359"/>
                </a:solidFill>
              </a:rPr>
              <a:t>Data Integration</a:t>
            </a:r>
            <a:endParaRPr lang="en-US" sz="1500" dirty="0"/>
          </a:p>
        </p:txBody>
      </p:sp>
      <p:sp>
        <p:nvSpPr>
          <p:cNvPr id="7" name="Text 5"/>
          <p:cNvSpPr/>
          <p:nvPr/>
        </p:nvSpPr>
        <p:spPr>
          <a:xfrm>
            <a:off x="1188720" y="1581912"/>
            <a:ext cx="2286000" cy="182880"/>
          </a:xfrm>
          <a:prstGeom prst="rect">
            <a:avLst/>
          </a:prstGeom>
          <a:noFill/>
          <a:ln/>
        </p:spPr>
        <p:txBody>
          <a:bodyPr wrap="square" rtlCol="0" anchor="ctr"/>
          <a:lstStyle/>
          <a:p>
            <a:pPr indent="0" marL="0">
              <a:buNone/>
            </a:pPr>
            <a:r>
              <a:rPr lang="en-US" sz="1100" i="1" dirty="0">
                <a:solidFill>
                  <a:srgbClr val="64748B"/>
                </a:solidFill>
              </a:rPr>
              <a:t>Weeks 1-2</a:t>
            </a:r>
            <a:endParaRPr lang="en-US" sz="1100" dirty="0"/>
          </a:p>
        </p:txBody>
      </p:sp>
      <p:sp>
        <p:nvSpPr>
          <p:cNvPr id="8" name="Text 6"/>
          <p:cNvSpPr/>
          <p:nvPr/>
        </p:nvSpPr>
        <p:spPr>
          <a:xfrm>
            <a:off x="3657600" y="1444752"/>
            <a:ext cx="4846320" cy="320040"/>
          </a:xfrm>
          <a:prstGeom prst="rect">
            <a:avLst/>
          </a:prstGeom>
          <a:noFill/>
          <a:ln/>
        </p:spPr>
        <p:txBody>
          <a:bodyPr wrap="square" rtlCol="0" anchor="ctr"/>
          <a:lstStyle/>
          <a:p>
            <a:pPr indent="0" marL="0">
              <a:buNone/>
            </a:pPr>
            <a:r>
              <a:rPr lang="en-US" sz="1100" dirty="0">
                <a:solidFill>
                  <a:srgbClr val="1E1E1E"/>
                </a:solidFill>
              </a:rPr>
              <a:t>Import SVI 2022 dataset  •  Join with existing ZIP code data  •  Validate data quality  •  Create views/tables</a:t>
            </a:r>
            <a:endParaRPr lang="en-US" sz="1100" dirty="0"/>
          </a:p>
        </p:txBody>
      </p:sp>
      <p:sp>
        <p:nvSpPr>
          <p:cNvPr id="9" name="Shape 7"/>
          <p:cNvSpPr/>
          <p:nvPr/>
        </p:nvSpPr>
        <p:spPr>
          <a:xfrm>
            <a:off x="457200" y="2103120"/>
            <a:ext cx="8229600" cy="822960"/>
          </a:xfrm>
          <a:prstGeom prst="rect">
            <a:avLst/>
          </a:prstGeom>
          <a:solidFill>
            <a:srgbClr val="FFFFFF"/>
          </a:solidFill>
          <a:ln/>
        </p:spPr>
      </p:sp>
      <p:sp>
        <p:nvSpPr>
          <p:cNvPr id="10" name="Shape 8"/>
          <p:cNvSpPr/>
          <p:nvPr/>
        </p:nvSpPr>
        <p:spPr>
          <a:xfrm>
            <a:off x="640080" y="2331720"/>
            <a:ext cx="365760" cy="365760"/>
          </a:xfrm>
          <a:prstGeom prst="ellipse">
            <a:avLst/>
          </a:prstGeom>
          <a:solidFill>
            <a:srgbClr val="0094D7"/>
          </a:solidFill>
          <a:ln/>
        </p:spPr>
      </p:sp>
      <p:sp>
        <p:nvSpPr>
          <p:cNvPr id="11" name="Text 9"/>
          <p:cNvSpPr/>
          <p:nvPr/>
        </p:nvSpPr>
        <p:spPr>
          <a:xfrm>
            <a:off x="640080" y="2331720"/>
            <a:ext cx="365760" cy="36576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2" name="Text 10"/>
          <p:cNvSpPr/>
          <p:nvPr/>
        </p:nvSpPr>
        <p:spPr>
          <a:xfrm>
            <a:off x="1188720" y="2240280"/>
            <a:ext cx="2286000" cy="228600"/>
          </a:xfrm>
          <a:prstGeom prst="rect">
            <a:avLst/>
          </a:prstGeom>
          <a:noFill/>
          <a:ln/>
        </p:spPr>
        <p:txBody>
          <a:bodyPr wrap="square" rtlCol="0" anchor="ctr"/>
          <a:lstStyle/>
          <a:p>
            <a:pPr indent="0" marL="0">
              <a:buNone/>
            </a:pPr>
            <a:r>
              <a:rPr lang="en-US" sz="1500" b="1" dirty="0">
                <a:solidFill>
                  <a:srgbClr val="003359"/>
                </a:solidFill>
              </a:rPr>
              <a:t>UI Development</a:t>
            </a:r>
            <a:endParaRPr lang="en-US" sz="1500" dirty="0"/>
          </a:p>
        </p:txBody>
      </p:sp>
      <p:sp>
        <p:nvSpPr>
          <p:cNvPr id="13" name="Text 11"/>
          <p:cNvSpPr/>
          <p:nvPr/>
        </p:nvSpPr>
        <p:spPr>
          <a:xfrm>
            <a:off x="1188720" y="2496312"/>
            <a:ext cx="2286000" cy="182880"/>
          </a:xfrm>
          <a:prstGeom prst="rect">
            <a:avLst/>
          </a:prstGeom>
          <a:noFill/>
          <a:ln/>
        </p:spPr>
        <p:txBody>
          <a:bodyPr wrap="square" rtlCol="0" anchor="ctr"/>
          <a:lstStyle/>
          <a:p>
            <a:pPr indent="0" marL="0">
              <a:buNone/>
            </a:pPr>
            <a:r>
              <a:rPr lang="en-US" sz="1100" i="1" dirty="0">
                <a:solidFill>
                  <a:srgbClr val="64748B"/>
                </a:solidFill>
              </a:rPr>
              <a:t>Weeks 3-4</a:t>
            </a:r>
            <a:endParaRPr lang="en-US" sz="1100" dirty="0"/>
          </a:p>
        </p:txBody>
      </p:sp>
      <p:sp>
        <p:nvSpPr>
          <p:cNvPr id="14" name="Text 12"/>
          <p:cNvSpPr/>
          <p:nvPr/>
        </p:nvSpPr>
        <p:spPr>
          <a:xfrm>
            <a:off x="3657600" y="2359152"/>
            <a:ext cx="4846320" cy="320040"/>
          </a:xfrm>
          <a:prstGeom prst="rect">
            <a:avLst/>
          </a:prstGeom>
          <a:noFill/>
          <a:ln/>
        </p:spPr>
        <p:txBody>
          <a:bodyPr wrap="square" rtlCol="0" anchor="ctr"/>
          <a:lstStyle/>
          <a:p>
            <a:pPr indent="0" marL="0">
              <a:buNone/>
            </a:pPr>
            <a:r>
              <a:rPr lang="en-US" sz="1100" dirty="0">
                <a:solidFill>
                  <a:srgbClr val="1E1E1E"/>
                </a:solidFill>
              </a:rPr>
              <a:t>Add SVI layers to map interface  •  Create filters for themes  •  Build priority dashboards  •  Test with user group</a:t>
            </a:r>
            <a:endParaRPr lang="en-US" sz="1100" dirty="0"/>
          </a:p>
        </p:txBody>
      </p:sp>
      <p:sp>
        <p:nvSpPr>
          <p:cNvPr id="15" name="Shape 13"/>
          <p:cNvSpPr/>
          <p:nvPr/>
        </p:nvSpPr>
        <p:spPr>
          <a:xfrm>
            <a:off x="457200" y="3017520"/>
            <a:ext cx="8229600" cy="822960"/>
          </a:xfrm>
          <a:prstGeom prst="rect">
            <a:avLst/>
          </a:prstGeom>
          <a:solidFill>
            <a:srgbClr val="BED6DB"/>
          </a:solidFill>
          <a:ln/>
        </p:spPr>
      </p:sp>
      <p:sp>
        <p:nvSpPr>
          <p:cNvPr id="16" name="Shape 14"/>
          <p:cNvSpPr/>
          <p:nvPr/>
        </p:nvSpPr>
        <p:spPr>
          <a:xfrm>
            <a:off x="640080" y="3246120"/>
            <a:ext cx="365760" cy="365760"/>
          </a:xfrm>
          <a:prstGeom prst="ellipse">
            <a:avLst/>
          </a:prstGeom>
          <a:solidFill>
            <a:srgbClr val="0094D7"/>
          </a:solidFill>
          <a:ln/>
        </p:spPr>
      </p:sp>
      <p:sp>
        <p:nvSpPr>
          <p:cNvPr id="17" name="Text 15"/>
          <p:cNvSpPr/>
          <p:nvPr/>
        </p:nvSpPr>
        <p:spPr>
          <a:xfrm>
            <a:off x="640080" y="3246120"/>
            <a:ext cx="365760" cy="36576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18" name="Text 16"/>
          <p:cNvSpPr/>
          <p:nvPr/>
        </p:nvSpPr>
        <p:spPr>
          <a:xfrm>
            <a:off x="1188720" y="3154680"/>
            <a:ext cx="2286000" cy="228600"/>
          </a:xfrm>
          <a:prstGeom prst="rect">
            <a:avLst/>
          </a:prstGeom>
          <a:noFill/>
          <a:ln/>
        </p:spPr>
        <p:txBody>
          <a:bodyPr wrap="square" rtlCol="0" anchor="ctr"/>
          <a:lstStyle/>
          <a:p>
            <a:pPr indent="0" marL="0">
              <a:buNone/>
            </a:pPr>
            <a:r>
              <a:rPr lang="en-US" sz="1500" b="1" dirty="0">
                <a:solidFill>
                  <a:srgbClr val="003359"/>
                </a:solidFill>
              </a:rPr>
              <a:t>Training &amp; Launch</a:t>
            </a:r>
            <a:endParaRPr lang="en-US" sz="1500" dirty="0"/>
          </a:p>
        </p:txBody>
      </p:sp>
      <p:sp>
        <p:nvSpPr>
          <p:cNvPr id="19" name="Text 17"/>
          <p:cNvSpPr/>
          <p:nvPr/>
        </p:nvSpPr>
        <p:spPr>
          <a:xfrm>
            <a:off x="1188720" y="3410712"/>
            <a:ext cx="2286000" cy="182880"/>
          </a:xfrm>
          <a:prstGeom prst="rect">
            <a:avLst/>
          </a:prstGeom>
          <a:noFill/>
          <a:ln/>
        </p:spPr>
        <p:txBody>
          <a:bodyPr wrap="square" rtlCol="0" anchor="ctr"/>
          <a:lstStyle/>
          <a:p>
            <a:pPr indent="0" marL="0">
              <a:buNone/>
            </a:pPr>
            <a:r>
              <a:rPr lang="en-US" sz="1100" i="1" dirty="0">
                <a:solidFill>
                  <a:srgbClr val="64748B"/>
                </a:solidFill>
              </a:rPr>
              <a:t>Weeks 5-6</a:t>
            </a:r>
            <a:endParaRPr lang="en-US" sz="1100" dirty="0"/>
          </a:p>
        </p:txBody>
      </p:sp>
      <p:sp>
        <p:nvSpPr>
          <p:cNvPr id="20" name="Text 18"/>
          <p:cNvSpPr/>
          <p:nvPr/>
        </p:nvSpPr>
        <p:spPr>
          <a:xfrm>
            <a:off x="3657600" y="3273552"/>
            <a:ext cx="4846320" cy="320040"/>
          </a:xfrm>
          <a:prstGeom prst="rect">
            <a:avLst/>
          </a:prstGeom>
          <a:noFill/>
          <a:ln/>
        </p:spPr>
        <p:txBody>
          <a:bodyPr wrap="square" rtlCol="0" anchor="ctr"/>
          <a:lstStyle/>
          <a:p>
            <a:pPr indent="0" marL="0">
              <a:buNone/>
            </a:pPr>
            <a:r>
              <a:rPr lang="en-US" sz="1100" dirty="0">
                <a:solidFill>
                  <a:srgbClr val="1E1E1E"/>
                </a:solidFill>
              </a:rPr>
              <a:t>Staff training sessions  •  Documentation creation  •  Pilot with 2-3 campaigns  •  Gather feedback</a:t>
            </a:r>
            <a:endParaRPr lang="en-US" sz="1100" dirty="0"/>
          </a:p>
        </p:txBody>
      </p:sp>
      <p:sp>
        <p:nvSpPr>
          <p:cNvPr id="21" name="Shape 19"/>
          <p:cNvSpPr/>
          <p:nvPr/>
        </p:nvSpPr>
        <p:spPr>
          <a:xfrm>
            <a:off x="457200" y="3931920"/>
            <a:ext cx="8229600" cy="822960"/>
          </a:xfrm>
          <a:prstGeom prst="rect">
            <a:avLst/>
          </a:prstGeom>
          <a:solidFill>
            <a:srgbClr val="FFFFFF"/>
          </a:solidFill>
          <a:ln/>
        </p:spPr>
      </p:sp>
      <p:sp>
        <p:nvSpPr>
          <p:cNvPr id="22" name="Shape 20"/>
          <p:cNvSpPr/>
          <p:nvPr/>
        </p:nvSpPr>
        <p:spPr>
          <a:xfrm>
            <a:off x="640080" y="4160520"/>
            <a:ext cx="365760" cy="365760"/>
          </a:xfrm>
          <a:prstGeom prst="ellipse">
            <a:avLst/>
          </a:prstGeom>
          <a:solidFill>
            <a:srgbClr val="0094D7"/>
          </a:solidFill>
          <a:ln/>
        </p:spPr>
      </p:sp>
      <p:sp>
        <p:nvSpPr>
          <p:cNvPr id="23" name="Text 21"/>
          <p:cNvSpPr/>
          <p:nvPr/>
        </p:nvSpPr>
        <p:spPr>
          <a:xfrm>
            <a:off x="640080" y="4160520"/>
            <a:ext cx="365760" cy="365760"/>
          </a:xfrm>
          <a:prstGeom prst="rect">
            <a:avLst/>
          </a:prstGeom>
          <a:noFill/>
          <a:ln/>
        </p:spPr>
        <p:txBody>
          <a:bodyPr wrap="square" rtlCol="0" anchor="ctr"/>
          <a:lstStyle/>
          <a:p>
            <a:pPr algn="ctr" indent="0" marL="0">
              <a:buNone/>
            </a:pPr>
            <a:r>
              <a:rPr lang="en-US" sz="1800" b="1" dirty="0">
                <a:solidFill>
                  <a:srgbClr val="FFFFFF"/>
                </a:solidFill>
              </a:rPr>
              <a:t>4</a:t>
            </a:r>
            <a:endParaRPr lang="en-US" sz="1800" dirty="0"/>
          </a:p>
        </p:txBody>
      </p:sp>
      <p:sp>
        <p:nvSpPr>
          <p:cNvPr id="24" name="Text 22"/>
          <p:cNvSpPr/>
          <p:nvPr/>
        </p:nvSpPr>
        <p:spPr>
          <a:xfrm>
            <a:off x="1188720" y="4069080"/>
            <a:ext cx="2286000" cy="228600"/>
          </a:xfrm>
          <a:prstGeom prst="rect">
            <a:avLst/>
          </a:prstGeom>
          <a:noFill/>
          <a:ln/>
        </p:spPr>
        <p:txBody>
          <a:bodyPr wrap="square" rtlCol="0" anchor="ctr"/>
          <a:lstStyle/>
          <a:p>
            <a:pPr indent="0" marL="0">
              <a:buNone/>
            </a:pPr>
            <a:r>
              <a:rPr lang="en-US" sz="1500" b="1" dirty="0">
                <a:solidFill>
                  <a:srgbClr val="003359"/>
                </a:solidFill>
              </a:rPr>
              <a:t>Optimization</a:t>
            </a:r>
            <a:endParaRPr lang="en-US" sz="1500" dirty="0"/>
          </a:p>
        </p:txBody>
      </p:sp>
      <p:sp>
        <p:nvSpPr>
          <p:cNvPr id="25" name="Text 23"/>
          <p:cNvSpPr/>
          <p:nvPr/>
        </p:nvSpPr>
        <p:spPr>
          <a:xfrm>
            <a:off x="1188720" y="4325112"/>
            <a:ext cx="2286000" cy="182880"/>
          </a:xfrm>
          <a:prstGeom prst="rect">
            <a:avLst/>
          </a:prstGeom>
          <a:noFill/>
          <a:ln/>
        </p:spPr>
        <p:txBody>
          <a:bodyPr wrap="square" rtlCol="0" anchor="ctr"/>
          <a:lstStyle/>
          <a:p>
            <a:pPr indent="0" marL="0">
              <a:buNone/>
            </a:pPr>
            <a:r>
              <a:rPr lang="en-US" sz="1100" i="1" dirty="0">
                <a:solidFill>
                  <a:srgbClr val="64748B"/>
                </a:solidFill>
              </a:rPr>
              <a:t>Ongoing</a:t>
            </a:r>
            <a:endParaRPr lang="en-US" sz="1100" dirty="0"/>
          </a:p>
        </p:txBody>
      </p:sp>
      <p:sp>
        <p:nvSpPr>
          <p:cNvPr id="26" name="Text 24"/>
          <p:cNvSpPr/>
          <p:nvPr/>
        </p:nvSpPr>
        <p:spPr>
          <a:xfrm>
            <a:off x="3657600" y="4187952"/>
            <a:ext cx="4846320" cy="320040"/>
          </a:xfrm>
          <a:prstGeom prst="rect">
            <a:avLst/>
          </a:prstGeom>
          <a:noFill/>
          <a:ln/>
        </p:spPr>
        <p:txBody>
          <a:bodyPr wrap="square" rtlCol="0" anchor="ctr"/>
          <a:lstStyle/>
          <a:p>
            <a:pPr indent="0" marL="0">
              <a:buNone/>
            </a:pPr>
            <a:r>
              <a:rPr lang="en-US" sz="1100" dirty="0">
                <a:solidFill>
                  <a:srgbClr val="1E1E1E"/>
                </a:solidFill>
              </a:rPr>
              <a:t>Monitor usage analytics  •  Refine workflows  •  Annual data updates  •  Expand use cases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359"/>
        </a:solidFill>
      </p:bgPr>
    </p:bg>
    <p:spTree>
      <p:nvGrpSpPr>
        <p:cNvPr id="1" name=""/>
        <p:cNvGrpSpPr/>
        <p:nvPr/>
      </p:nvGrpSpPr>
      <p:grpSpPr>
        <a:xfrm>
          <a:off x="0" y="0"/>
          <a:ext cx="0" cy="0"/>
          <a:chOff x="0" y="0"/>
          <a:chExt cx="0" cy="0"/>
        </a:xfrm>
      </p:grpSpPr>
      <p:sp>
        <p:nvSpPr>
          <p:cNvPr id="2" name="Text 0"/>
          <p:cNvSpPr/>
          <p:nvPr/>
        </p:nvSpPr>
        <p:spPr>
          <a:xfrm>
            <a:off x="457200" y="731520"/>
            <a:ext cx="8229600" cy="548640"/>
          </a:xfrm>
          <a:prstGeom prst="rect">
            <a:avLst/>
          </a:prstGeom>
          <a:noFill/>
          <a:ln/>
        </p:spPr>
        <p:txBody>
          <a:bodyPr wrap="square" rtlCol="0" anchor="ctr"/>
          <a:lstStyle/>
          <a:p>
            <a:pPr algn="ctr" indent="0" marL="0">
              <a:buNone/>
            </a:pPr>
            <a:r>
              <a:rPr lang="en-US" sz="4400" b="1" dirty="0">
                <a:solidFill>
                  <a:srgbClr val="FFFFFF"/>
                </a:solidFill>
              </a:rPr>
              <a:t>Next Steps</a:t>
            </a:r>
            <a:endParaRPr lang="en-US" sz="4400" dirty="0"/>
          </a:p>
        </p:txBody>
      </p:sp>
      <p:sp>
        <p:nvSpPr>
          <p:cNvPr id="3" name="Shape 1"/>
          <p:cNvSpPr/>
          <p:nvPr/>
        </p:nvSpPr>
        <p:spPr>
          <a:xfrm>
            <a:off x="1371600" y="1828800"/>
            <a:ext cx="2103120" cy="1828800"/>
          </a:xfrm>
          <a:prstGeom prst="rect">
            <a:avLst/>
          </a:prstGeom>
          <a:solidFill>
            <a:srgbClr val="FFFFFF"/>
          </a:solidFill>
          <a:ln/>
        </p:spPr>
      </p:sp>
      <p:sp>
        <p:nvSpPr>
          <p:cNvPr id="4" name="Shape 2"/>
          <p:cNvSpPr/>
          <p:nvPr/>
        </p:nvSpPr>
        <p:spPr>
          <a:xfrm>
            <a:off x="2103120" y="2103120"/>
            <a:ext cx="640080" cy="640080"/>
          </a:xfrm>
          <a:prstGeom prst="ellipse">
            <a:avLst/>
          </a:prstGeom>
          <a:solidFill>
            <a:srgbClr val="8FCAE7"/>
          </a:solidFill>
          <a:ln/>
        </p:spPr>
      </p:sp>
      <p:sp>
        <p:nvSpPr>
          <p:cNvPr id="5" name="Text 3"/>
          <p:cNvSpPr/>
          <p:nvPr/>
        </p:nvSpPr>
        <p:spPr>
          <a:xfrm>
            <a:off x="2103120" y="2103120"/>
            <a:ext cx="640080" cy="640080"/>
          </a:xfrm>
          <a:prstGeom prst="rect">
            <a:avLst/>
          </a:prstGeom>
          <a:noFill/>
          <a:ln/>
        </p:spPr>
        <p:txBody>
          <a:bodyPr wrap="square" rtlCol="0" anchor="ctr"/>
          <a:lstStyle/>
          <a:p>
            <a:pPr algn="ctr" indent="0" marL="0">
              <a:buNone/>
            </a:pPr>
            <a:r>
              <a:rPr lang="en-US" sz="3200" b="1" dirty="0">
                <a:solidFill>
                  <a:srgbClr val="003359"/>
                </a:solidFill>
              </a:rPr>
              <a:t>1</a:t>
            </a:r>
            <a:endParaRPr lang="en-US" sz="3200" dirty="0"/>
          </a:p>
        </p:txBody>
      </p:sp>
      <p:sp>
        <p:nvSpPr>
          <p:cNvPr id="6" name="Text 4"/>
          <p:cNvSpPr/>
          <p:nvPr/>
        </p:nvSpPr>
        <p:spPr>
          <a:xfrm>
            <a:off x="1554480" y="2926080"/>
            <a:ext cx="1737360" cy="365760"/>
          </a:xfrm>
          <a:prstGeom prst="rect">
            <a:avLst/>
          </a:prstGeom>
          <a:noFill/>
          <a:ln/>
        </p:spPr>
        <p:txBody>
          <a:bodyPr wrap="square" rtlCol="0" anchor="ctr"/>
          <a:lstStyle/>
          <a:p>
            <a:pPr algn="ctr" indent="0" marL="0">
              <a:buNone/>
            </a:pPr>
            <a:r>
              <a:rPr lang="en-US" sz="1500" b="1" dirty="0">
                <a:solidFill>
                  <a:srgbClr val="003359"/>
                </a:solidFill>
              </a:rPr>
              <a:t>Approve Integration</a:t>
            </a:r>
            <a:endParaRPr lang="en-US" sz="1500" dirty="0"/>
          </a:p>
        </p:txBody>
      </p:sp>
      <p:sp>
        <p:nvSpPr>
          <p:cNvPr id="7" name="Text 5"/>
          <p:cNvSpPr/>
          <p:nvPr/>
        </p:nvSpPr>
        <p:spPr>
          <a:xfrm>
            <a:off x="1554480" y="3337560"/>
            <a:ext cx="1737360" cy="228600"/>
          </a:xfrm>
          <a:prstGeom prst="rect">
            <a:avLst/>
          </a:prstGeom>
          <a:noFill/>
          <a:ln/>
        </p:spPr>
        <p:txBody>
          <a:bodyPr wrap="square" rtlCol="0" anchor="ctr"/>
          <a:lstStyle/>
          <a:p>
            <a:pPr algn="ctr" indent="0" marL="0">
              <a:buNone/>
            </a:pPr>
            <a:r>
              <a:rPr lang="en-US" sz="1100" dirty="0">
                <a:solidFill>
                  <a:srgbClr val="64748B"/>
                </a:solidFill>
              </a:rPr>
              <a:t>Greenlight SVI addition to analytics tool</a:t>
            </a:r>
            <a:endParaRPr lang="en-US" sz="1100" dirty="0"/>
          </a:p>
        </p:txBody>
      </p:sp>
      <p:sp>
        <p:nvSpPr>
          <p:cNvPr id="8" name="Shape 6"/>
          <p:cNvSpPr/>
          <p:nvPr/>
        </p:nvSpPr>
        <p:spPr>
          <a:xfrm>
            <a:off x="3657600" y="1828800"/>
            <a:ext cx="2103120" cy="1828800"/>
          </a:xfrm>
          <a:prstGeom prst="rect">
            <a:avLst/>
          </a:prstGeom>
          <a:solidFill>
            <a:srgbClr val="FFFFFF"/>
          </a:solidFill>
          <a:ln/>
        </p:spPr>
      </p:sp>
      <p:sp>
        <p:nvSpPr>
          <p:cNvPr id="9" name="Shape 7"/>
          <p:cNvSpPr/>
          <p:nvPr/>
        </p:nvSpPr>
        <p:spPr>
          <a:xfrm>
            <a:off x="4389120" y="2103120"/>
            <a:ext cx="640080" cy="640080"/>
          </a:xfrm>
          <a:prstGeom prst="ellipse">
            <a:avLst/>
          </a:prstGeom>
          <a:solidFill>
            <a:srgbClr val="8FCAE7"/>
          </a:solidFill>
          <a:ln/>
        </p:spPr>
      </p:sp>
      <p:sp>
        <p:nvSpPr>
          <p:cNvPr id="10" name="Text 8"/>
          <p:cNvSpPr/>
          <p:nvPr/>
        </p:nvSpPr>
        <p:spPr>
          <a:xfrm>
            <a:off x="4389120" y="2103120"/>
            <a:ext cx="640080" cy="640080"/>
          </a:xfrm>
          <a:prstGeom prst="rect">
            <a:avLst/>
          </a:prstGeom>
          <a:noFill/>
          <a:ln/>
        </p:spPr>
        <p:txBody>
          <a:bodyPr wrap="square" rtlCol="0" anchor="ctr"/>
          <a:lstStyle/>
          <a:p>
            <a:pPr algn="ctr" indent="0" marL="0">
              <a:buNone/>
            </a:pPr>
            <a:r>
              <a:rPr lang="en-US" sz="3200" b="1" dirty="0">
                <a:solidFill>
                  <a:srgbClr val="003359"/>
                </a:solidFill>
              </a:rPr>
              <a:t>2</a:t>
            </a:r>
            <a:endParaRPr lang="en-US" sz="3200" dirty="0"/>
          </a:p>
        </p:txBody>
      </p:sp>
      <p:sp>
        <p:nvSpPr>
          <p:cNvPr id="11" name="Text 9"/>
          <p:cNvSpPr/>
          <p:nvPr/>
        </p:nvSpPr>
        <p:spPr>
          <a:xfrm>
            <a:off x="3840480" y="2926080"/>
            <a:ext cx="1737360" cy="365760"/>
          </a:xfrm>
          <a:prstGeom prst="rect">
            <a:avLst/>
          </a:prstGeom>
          <a:noFill/>
          <a:ln/>
        </p:spPr>
        <p:txBody>
          <a:bodyPr wrap="square" rtlCol="0" anchor="ctr"/>
          <a:lstStyle/>
          <a:p>
            <a:pPr algn="ctr" indent="0" marL="0">
              <a:buNone/>
            </a:pPr>
            <a:r>
              <a:rPr lang="en-US" sz="1500" b="1" dirty="0">
                <a:solidFill>
                  <a:srgbClr val="003359"/>
                </a:solidFill>
              </a:rPr>
              <a:t>Assign Resources</a:t>
            </a:r>
            <a:endParaRPr lang="en-US" sz="1500" dirty="0"/>
          </a:p>
        </p:txBody>
      </p:sp>
      <p:sp>
        <p:nvSpPr>
          <p:cNvPr id="12" name="Text 10"/>
          <p:cNvSpPr/>
          <p:nvPr/>
        </p:nvSpPr>
        <p:spPr>
          <a:xfrm>
            <a:off x="3840480" y="3337560"/>
            <a:ext cx="1737360" cy="228600"/>
          </a:xfrm>
          <a:prstGeom prst="rect">
            <a:avLst/>
          </a:prstGeom>
          <a:noFill/>
          <a:ln/>
        </p:spPr>
        <p:txBody>
          <a:bodyPr wrap="square" rtlCol="0" anchor="ctr"/>
          <a:lstStyle/>
          <a:p>
            <a:pPr algn="ctr" indent="0" marL="0">
              <a:buNone/>
            </a:pPr>
            <a:r>
              <a:rPr lang="en-US" sz="1100" dirty="0">
                <a:solidFill>
                  <a:srgbClr val="64748B"/>
                </a:solidFill>
              </a:rPr>
              <a:t>Designate technical lead and timeline</a:t>
            </a:r>
            <a:endParaRPr lang="en-US" sz="1100" dirty="0"/>
          </a:p>
        </p:txBody>
      </p:sp>
      <p:sp>
        <p:nvSpPr>
          <p:cNvPr id="13" name="Shape 11"/>
          <p:cNvSpPr/>
          <p:nvPr/>
        </p:nvSpPr>
        <p:spPr>
          <a:xfrm>
            <a:off x="5943600" y="1828800"/>
            <a:ext cx="2103120" cy="1828800"/>
          </a:xfrm>
          <a:prstGeom prst="rect">
            <a:avLst/>
          </a:prstGeom>
          <a:solidFill>
            <a:srgbClr val="FFFFFF"/>
          </a:solidFill>
          <a:ln/>
        </p:spPr>
      </p:sp>
      <p:sp>
        <p:nvSpPr>
          <p:cNvPr id="14" name="Shape 12"/>
          <p:cNvSpPr/>
          <p:nvPr/>
        </p:nvSpPr>
        <p:spPr>
          <a:xfrm>
            <a:off x="6675120" y="2103120"/>
            <a:ext cx="640080" cy="640080"/>
          </a:xfrm>
          <a:prstGeom prst="ellipse">
            <a:avLst/>
          </a:prstGeom>
          <a:solidFill>
            <a:srgbClr val="8FCAE7"/>
          </a:solidFill>
          <a:ln/>
        </p:spPr>
      </p:sp>
      <p:sp>
        <p:nvSpPr>
          <p:cNvPr id="15" name="Text 13"/>
          <p:cNvSpPr/>
          <p:nvPr/>
        </p:nvSpPr>
        <p:spPr>
          <a:xfrm>
            <a:off x="6675120" y="2103120"/>
            <a:ext cx="640080" cy="640080"/>
          </a:xfrm>
          <a:prstGeom prst="rect">
            <a:avLst/>
          </a:prstGeom>
          <a:noFill/>
          <a:ln/>
        </p:spPr>
        <p:txBody>
          <a:bodyPr wrap="square" rtlCol="0" anchor="ctr"/>
          <a:lstStyle/>
          <a:p>
            <a:pPr algn="ctr" indent="0" marL="0">
              <a:buNone/>
            </a:pPr>
            <a:r>
              <a:rPr lang="en-US" sz="3200" b="1" dirty="0">
                <a:solidFill>
                  <a:srgbClr val="003359"/>
                </a:solidFill>
              </a:rPr>
              <a:t>3</a:t>
            </a:r>
            <a:endParaRPr lang="en-US" sz="3200" dirty="0"/>
          </a:p>
        </p:txBody>
      </p:sp>
      <p:sp>
        <p:nvSpPr>
          <p:cNvPr id="16" name="Text 14"/>
          <p:cNvSpPr/>
          <p:nvPr/>
        </p:nvSpPr>
        <p:spPr>
          <a:xfrm>
            <a:off x="6126480" y="2926080"/>
            <a:ext cx="1737360" cy="365760"/>
          </a:xfrm>
          <a:prstGeom prst="rect">
            <a:avLst/>
          </a:prstGeom>
          <a:noFill/>
          <a:ln/>
        </p:spPr>
        <p:txBody>
          <a:bodyPr wrap="square" rtlCol="0" anchor="ctr"/>
          <a:lstStyle/>
          <a:p>
            <a:pPr algn="ctr" indent="0" marL="0">
              <a:buNone/>
            </a:pPr>
            <a:r>
              <a:rPr lang="en-US" sz="1500" b="1" dirty="0">
                <a:solidFill>
                  <a:srgbClr val="003359"/>
                </a:solidFill>
              </a:rPr>
              <a:t>Pilot Campaign</a:t>
            </a:r>
            <a:endParaRPr lang="en-US" sz="1500" dirty="0"/>
          </a:p>
        </p:txBody>
      </p:sp>
      <p:sp>
        <p:nvSpPr>
          <p:cNvPr id="17" name="Text 15"/>
          <p:cNvSpPr/>
          <p:nvPr/>
        </p:nvSpPr>
        <p:spPr>
          <a:xfrm>
            <a:off x="6126480" y="3337560"/>
            <a:ext cx="1737360" cy="228600"/>
          </a:xfrm>
          <a:prstGeom prst="rect">
            <a:avLst/>
          </a:prstGeom>
          <a:noFill/>
          <a:ln/>
        </p:spPr>
        <p:txBody>
          <a:bodyPr wrap="square" rtlCol="0" anchor="ctr"/>
          <a:lstStyle/>
          <a:p>
            <a:pPr algn="ctr" indent="0" marL="0">
              <a:buNone/>
            </a:pPr>
            <a:r>
              <a:rPr lang="en-US" sz="1100" dirty="0">
                <a:solidFill>
                  <a:srgbClr val="64748B"/>
                </a:solidFill>
              </a:rPr>
              <a:t>Test with one high-impact use case</a:t>
            </a:r>
            <a:endParaRPr lang="en-US" sz="1100" dirty="0"/>
          </a:p>
        </p:txBody>
      </p:sp>
      <p:sp>
        <p:nvSpPr>
          <p:cNvPr id="18" name="Text 16"/>
          <p:cNvSpPr/>
          <p:nvPr/>
        </p:nvSpPr>
        <p:spPr>
          <a:xfrm>
            <a:off x="457200" y="4389120"/>
            <a:ext cx="8229600" cy="274320"/>
          </a:xfrm>
          <a:prstGeom prst="rect">
            <a:avLst/>
          </a:prstGeom>
          <a:noFill/>
          <a:ln/>
        </p:spPr>
        <p:txBody>
          <a:bodyPr wrap="square" rtlCol="0" anchor="ctr"/>
          <a:lstStyle/>
          <a:p>
            <a:pPr algn="ctr" indent="0" marL="0">
              <a:buNone/>
            </a:pPr>
            <a:r>
              <a:rPr lang="en-US" sz="1200" i="1" dirty="0">
                <a:solidFill>
                  <a:srgbClr val="FFFFFF"/>
                </a:solidFill>
              </a:rPr>
              <a:t>Questions? Contact the Population Health Analytics Team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 Social Vulnerability Index - Implementation Proposal</dc:title>
  <dc:subject>PptxGenJS Presentation</dc:subject>
  <dc:creator>Population Health Analytics Team</dc:creator>
  <cp:lastModifiedBy>Population Health Analytics Team</cp:lastModifiedBy>
  <cp:revision>1</cp:revision>
  <dcterms:created xsi:type="dcterms:W3CDTF">2026-01-31T02:04:30Z</dcterms:created>
  <dcterms:modified xsi:type="dcterms:W3CDTF">2026-01-31T02:04:30Z</dcterms:modified>
</cp:coreProperties>
</file>